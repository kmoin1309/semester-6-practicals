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58" r:id="rId1"/>
  </p:sldMasterIdLst>
  <p:notesMasterIdLst>
    <p:notesMasterId r:id="rId23"/>
  </p:notesMasterIdLst>
  <p:sldIdLst>
    <p:sldId id="256" r:id="rId2"/>
    <p:sldId id="257" r:id="rId3"/>
    <p:sldId id="258" r:id="rId4"/>
    <p:sldId id="259" r:id="rId5"/>
    <p:sldId id="260" r:id="rId6"/>
    <p:sldId id="275" r:id="rId7"/>
    <p:sldId id="276" r:id="rId8"/>
    <p:sldId id="261" r:id="rId9"/>
    <p:sldId id="262" r:id="rId10"/>
    <p:sldId id="263" r:id="rId11"/>
    <p:sldId id="264" r:id="rId12"/>
    <p:sldId id="265" r:id="rId13"/>
    <p:sldId id="274" r:id="rId14"/>
    <p:sldId id="266" r:id="rId15"/>
    <p:sldId id="267" r:id="rId16"/>
    <p:sldId id="273" r:id="rId17"/>
    <p:sldId id="268" r:id="rId18"/>
    <p:sldId id="269" r:id="rId19"/>
    <p:sldId id="270" r:id="rId20"/>
    <p:sldId id="271" r:id="rId21"/>
    <p:sldId id="272" r:id="rId22"/>
  </p:sldIdLst>
  <p:sldSz cx="12192000" cy="6858000"/>
  <p:notesSz cx="6858000" cy="9144000"/>
  <p:embeddedFontLst>
    <p:embeddedFont>
      <p:font typeface="Montserrat" pitchFamily="2" charset="77"/>
      <p:regular r:id="rId24"/>
      <p:bold r:id="rId25"/>
      <p:italic r:id="rId26"/>
      <p:boldItalic r:id="rId27"/>
    </p:embeddedFont>
    <p:embeddedFont>
      <p:font typeface="Pacifico" pitchFamily="2" charset="77"/>
      <p:regular r:id="rId2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384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9D26DDB-0AB3-4B55-984C-C8273E174064}">
  <a:tblStyle styleId="{09D26DDB-0AB3-4B55-984C-C8273E174064}"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994"/>
    <p:restoredTop sz="94709"/>
  </p:normalViewPr>
  <p:slideViewPr>
    <p:cSldViewPr snapToGrid="0">
      <p:cViewPr varScale="1">
        <p:scale>
          <a:sx n="143" d="100"/>
          <a:sy n="143" d="100"/>
        </p:scale>
        <p:origin x="392" y="20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5" name="Google Shape;75;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gf8dcb44881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gf8dcb44881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f8dcb44881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f8dcb44881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f8dcb44881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f8dcb44881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f9ae72e39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f9ae72e390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C66F1B3C-41E5-C288-A940-0542B699F153}"/>
            </a:ext>
          </a:extLst>
        </p:cNvPr>
        <p:cNvGrpSpPr/>
        <p:nvPr/>
      </p:nvGrpSpPr>
      <p:grpSpPr>
        <a:xfrm>
          <a:off x="0" y="0"/>
          <a:ext cx="0" cy="0"/>
          <a:chOff x="0" y="0"/>
          <a:chExt cx="0" cy="0"/>
        </a:xfrm>
      </p:grpSpPr>
      <p:sp>
        <p:nvSpPr>
          <p:cNvPr id="106" name="Google Shape;106;gf9ae72e390_1_0:notes">
            <a:extLst>
              <a:ext uri="{FF2B5EF4-FFF2-40B4-BE49-F238E27FC236}">
                <a16:creationId xmlns:a16="http://schemas.microsoft.com/office/drawing/2014/main" id="{5D5576C2-2407-8424-9CFC-5AA98B21562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f9ae72e390_1_0:notes">
            <a:extLst>
              <a:ext uri="{FF2B5EF4-FFF2-40B4-BE49-F238E27FC236}">
                <a16:creationId xmlns:a16="http://schemas.microsoft.com/office/drawing/2014/main" id="{197CED8E-F183-6662-59C1-2913BCB4A8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099119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EADA90D4-CD8E-B5F5-916D-B1DE23DCB65B}"/>
            </a:ext>
          </a:extLst>
        </p:cNvPr>
        <p:cNvGrpSpPr/>
        <p:nvPr/>
      </p:nvGrpSpPr>
      <p:grpSpPr>
        <a:xfrm>
          <a:off x="0" y="0"/>
          <a:ext cx="0" cy="0"/>
          <a:chOff x="0" y="0"/>
          <a:chExt cx="0" cy="0"/>
        </a:xfrm>
      </p:grpSpPr>
      <p:sp>
        <p:nvSpPr>
          <p:cNvPr id="106" name="Google Shape;106;gf9ae72e390_1_0:notes">
            <a:extLst>
              <a:ext uri="{FF2B5EF4-FFF2-40B4-BE49-F238E27FC236}">
                <a16:creationId xmlns:a16="http://schemas.microsoft.com/office/drawing/2014/main" id="{5BAE5C64-CFE3-0ED7-DA90-3B5B0031B7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f9ae72e390_1_0:notes">
            <a:extLst>
              <a:ext uri="{FF2B5EF4-FFF2-40B4-BE49-F238E27FC236}">
                <a16:creationId xmlns:a16="http://schemas.microsoft.com/office/drawing/2014/main" id="{84E40A4E-4299-8A50-0D0C-85D47BA46E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11651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g32ec636aa7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 name="Google Shape;116;g32ec636aa7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f8dcb44881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f8dcb44881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f8dcb44881_0_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f8dcb44881_0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gf8dcb44881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 name="Google Shape;139;gf8dcb44881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2ec636aa75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32ec636aa75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AC311BED-49CA-85F7-6CC5-DBB3410F8FBD}"/>
            </a:ext>
          </a:extLst>
        </p:cNvPr>
        <p:cNvGrpSpPr/>
        <p:nvPr/>
      </p:nvGrpSpPr>
      <p:grpSpPr>
        <a:xfrm>
          <a:off x="0" y="0"/>
          <a:ext cx="0" cy="0"/>
          <a:chOff x="0" y="0"/>
          <a:chExt cx="0" cy="0"/>
        </a:xfrm>
      </p:grpSpPr>
      <p:sp>
        <p:nvSpPr>
          <p:cNvPr id="146" name="Google Shape;146;g32ec636aa75_0_14:notes">
            <a:extLst>
              <a:ext uri="{FF2B5EF4-FFF2-40B4-BE49-F238E27FC236}">
                <a16:creationId xmlns:a16="http://schemas.microsoft.com/office/drawing/2014/main" id="{F33838E2-14B0-0BB9-FD55-CB111007D8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32ec636aa75_0_14:notes">
            <a:extLst>
              <a:ext uri="{FF2B5EF4-FFF2-40B4-BE49-F238E27FC236}">
                <a16:creationId xmlns:a16="http://schemas.microsoft.com/office/drawing/2014/main" id="{CC7DDDD3-0FFE-1861-1251-67F36E8211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531876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f8dcb44881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f8dcb4488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32ec636aa75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32ec636aa75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a:extLst>
            <a:ext uri="{FF2B5EF4-FFF2-40B4-BE49-F238E27FC236}">
              <a16:creationId xmlns:a16="http://schemas.microsoft.com/office/drawing/2014/main" id="{DAC12AE9-22A6-044A-8627-9B6D3A19241E}"/>
            </a:ext>
          </a:extLst>
        </p:cNvPr>
        <p:cNvGrpSpPr/>
        <p:nvPr/>
      </p:nvGrpSpPr>
      <p:grpSpPr>
        <a:xfrm>
          <a:off x="0" y="0"/>
          <a:ext cx="0" cy="0"/>
          <a:chOff x="0" y="0"/>
          <a:chExt cx="0" cy="0"/>
        </a:xfrm>
      </p:grpSpPr>
      <p:sp>
        <p:nvSpPr>
          <p:cNvPr id="162" name="Google Shape;162;g32ec636aa75_0_27:notes">
            <a:extLst>
              <a:ext uri="{FF2B5EF4-FFF2-40B4-BE49-F238E27FC236}">
                <a16:creationId xmlns:a16="http://schemas.microsoft.com/office/drawing/2014/main" id="{1CC924FC-B396-1E37-CD7D-58D36B9BB3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32ec636aa75_0_27:notes">
            <a:extLst>
              <a:ext uri="{FF2B5EF4-FFF2-40B4-BE49-F238E27FC236}">
                <a16:creationId xmlns:a16="http://schemas.microsoft.com/office/drawing/2014/main" id="{99440CAE-5282-08E1-DB2F-EA3E7D27EAB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342588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32ec636aa75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 name="Google Shape;172;g32ec636aa75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f8dcb44881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1" name="Google Shape;181;gf8dcb44881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f8dcb44881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f8dcb44881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f8dcb44881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f8dcb44881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10" name="Google Shape;21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4" name="Google Shape;14;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5"/>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2" name="Google Shape;32;p5"/>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5"/>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4" name="Google Shape;34;p5"/>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8"/>
        <p:cNvGrpSpPr/>
        <p:nvPr/>
      </p:nvGrpSpPr>
      <p:grpSpPr>
        <a:xfrm>
          <a:off x="0" y="0"/>
          <a:ext cx="0" cy="0"/>
          <a:chOff x="0" y="0"/>
          <a:chExt cx="0" cy="0"/>
        </a:xfrm>
      </p:grpSpPr>
      <p:sp>
        <p:nvSpPr>
          <p:cNvPr id="39" name="Google Shape;39;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3"/>
        <p:cNvGrpSpPr/>
        <p:nvPr/>
      </p:nvGrpSpPr>
      <p:grpSpPr>
        <a:xfrm>
          <a:off x="0" y="0"/>
          <a:ext cx="0" cy="0"/>
          <a:chOff x="0" y="0"/>
          <a:chExt cx="0" cy="0"/>
        </a:xfrm>
      </p:grpSpPr>
      <p:sp>
        <p:nvSpPr>
          <p:cNvPr id="44" name="Google Shape;44;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47"/>
        <p:cNvGrpSpPr/>
        <p:nvPr/>
      </p:nvGrpSpPr>
      <p:grpSpPr>
        <a:xfrm>
          <a:off x="0" y="0"/>
          <a:ext cx="0" cy="0"/>
          <a:chOff x="0" y="0"/>
          <a:chExt cx="0" cy="0"/>
        </a:xfrm>
      </p:grpSpPr>
      <p:sp>
        <p:nvSpPr>
          <p:cNvPr id="48" name="Google Shape;48;p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8"/>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0" name="Google Shape;50;p8"/>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1" name="Google Shape;51;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9"/>
          <p:cNvSpPr>
            <a:spLocks noGrp="1"/>
          </p:cNvSpPr>
          <p:nvPr>
            <p:ph type="pic" idx="2"/>
          </p:nvPr>
        </p:nvSpPr>
        <p:spPr>
          <a:xfrm>
            <a:off x="5183188" y="987425"/>
            <a:ext cx="6172200" cy="4873625"/>
          </a:xfrm>
          <a:prstGeom prst="rect">
            <a:avLst/>
          </a:prstGeom>
          <a:noFill/>
          <a:ln>
            <a:noFill/>
          </a:ln>
        </p:spPr>
      </p:sp>
      <p:sp>
        <p:nvSpPr>
          <p:cNvPr id="57" name="Google Shape;57;p9"/>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0"/>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4" name="Google Shape;64;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67"/>
        <p:cNvGrpSpPr/>
        <p:nvPr/>
      </p:nvGrpSpPr>
      <p:grpSpPr>
        <a:xfrm>
          <a:off x="0" y="0"/>
          <a:ext cx="0" cy="0"/>
          <a:chOff x="0" y="0"/>
          <a:chExt cx="0" cy="0"/>
        </a:xfrm>
      </p:grpSpPr>
      <p:sp>
        <p:nvSpPr>
          <p:cNvPr id="68" name="Google Shape;68;p11"/>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11"/>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0" name="Google Shape;70;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12"/>
          <p:cNvSpPr txBox="1">
            <a:spLocks noGrp="1"/>
          </p:cNvSpPr>
          <p:nvPr>
            <p:ph type="ctrTitle"/>
          </p:nvPr>
        </p:nvSpPr>
        <p:spPr>
          <a:xfrm>
            <a:off x="2332800" y="944425"/>
            <a:ext cx="7526400" cy="778200"/>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90000"/>
              </a:lnSpc>
              <a:spcBef>
                <a:spcPts val="0"/>
              </a:spcBef>
              <a:spcAft>
                <a:spcPts val="0"/>
              </a:spcAft>
              <a:buClr>
                <a:schemeClr val="dk1"/>
              </a:buClr>
              <a:buSzPts val="4000"/>
              <a:buFont typeface="Times New Roman"/>
              <a:buNone/>
            </a:pPr>
            <a:r>
              <a:rPr lang="en-US" sz="4000" b="1" dirty="0">
                <a:latin typeface="Times New Roman"/>
                <a:ea typeface="Times New Roman"/>
                <a:cs typeface="Times New Roman"/>
                <a:sym typeface="Times New Roman"/>
              </a:rPr>
              <a:t>“Intelligent Football Analytics with YOLO and Machine Learning”</a:t>
            </a:r>
            <a:endParaRPr dirty="0"/>
          </a:p>
        </p:txBody>
      </p:sp>
      <p:pic>
        <p:nvPicPr>
          <p:cNvPr id="78" name="Google Shape;78;p12"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79" name="Google Shape;79;p12"/>
          <p:cNvSpPr txBox="1"/>
          <p:nvPr/>
        </p:nvSpPr>
        <p:spPr>
          <a:xfrm>
            <a:off x="1432389" y="4973781"/>
            <a:ext cx="3848400" cy="6465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Under the Guidance of :</a:t>
            </a:r>
            <a:br>
              <a:rPr lang="en-US" sz="1800" b="0" i="0" u="none" strike="noStrike" cap="none" dirty="0">
                <a:solidFill>
                  <a:schemeClr val="dk1"/>
                </a:solidFill>
                <a:latin typeface="Times New Roman"/>
                <a:ea typeface="Times New Roman"/>
                <a:cs typeface="Times New Roman"/>
                <a:sym typeface="Times New Roman"/>
              </a:rPr>
            </a:br>
            <a:r>
              <a:rPr lang="en-US" sz="1800" b="0" i="0" u="none" strike="noStrike" cap="none" dirty="0">
                <a:solidFill>
                  <a:schemeClr val="dk1"/>
                </a:solidFill>
                <a:latin typeface="Times New Roman"/>
                <a:ea typeface="Times New Roman"/>
                <a:cs typeface="Times New Roman"/>
                <a:sym typeface="Times New Roman"/>
              </a:rPr>
              <a:t>Prof. Priyanka Patel</a:t>
            </a:r>
            <a:endParaRPr sz="1800" b="0" i="0" u="none" strike="noStrike" cap="none" dirty="0">
              <a:solidFill>
                <a:schemeClr val="dk1"/>
              </a:solidFill>
              <a:latin typeface="Times New Roman"/>
              <a:ea typeface="Times New Roman"/>
              <a:cs typeface="Times New Roman"/>
              <a:sym typeface="Times New Roman"/>
            </a:endParaRPr>
          </a:p>
        </p:txBody>
      </p:sp>
      <p:sp>
        <p:nvSpPr>
          <p:cNvPr id="80" name="Google Shape;80;p12"/>
          <p:cNvSpPr txBox="1"/>
          <p:nvPr/>
        </p:nvSpPr>
        <p:spPr>
          <a:xfrm>
            <a:off x="2285550" y="2305350"/>
            <a:ext cx="7620900" cy="19395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000"/>
              <a:buFont typeface="Arial"/>
              <a:buNone/>
            </a:pPr>
            <a:r>
              <a:rPr lang="en-US" sz="2000" b="1" i="0" u="none" strike="noStrike" cap="none" dirty="0">
                <a:solidFill>
                  <a:srgbClr val="000000"/>
                </a:solidFill>
                <a:latin typeface="Times New Roman"/>
                <a:ea typeface="Times New Roman"/>
                <a:cs typeface="Times New Roman"/>
                <a:sym typeface="Times New Roman"/>
              </a:rPr>
              <a:t>Department of Computer Engineering</a:t>
            </a:r>
            <a:endParaRPr sz="2000" b="0" i="0" u="none" strike="noStrike" cap="none" dirty="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000"/>
              <a:buFont typeface="Arial"/>
              <a:buNone/>
            </a:pPr>
            <a:r>
              <a:rPr lang="en-US" sz="2000" b="1" i="0" u="none" strike="noStrike" cap="none" dirty="0">
                <a:solidFill>
                  <a:srgbClr val="000000"/>
                </a:solidFill>
                <a:latin typeface="Times New Roman"/>
                <a:ea typeface="Times New Roman"/>
                <a:cs typeface="Times New Roman"/>
                <a:sym typeface="Times New Roman"/>
              </a:rPr>
              <a:t>TERNA ENGINEERING COLLEGE </a:t>
            </a:r>
            <a:endParaRPr sz="2000" b="0" i="0" u="none" strike="noStrike" cap="none" dirty="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Times New Roman"/>
                <a:ea typeface="Times New Roman"/>
                <a:cs typeface="Times New Roman"/>
                <a:sym typeface="Times New Roman"/>
              </a:rPr>
              <a:t>Nerul (W), Navi Mumbai 400706</a:t>
            </a:r>
            <a:endParaRPr sz="2000" b="0" i="0" u="none" strike="noStrike" cap="none" dirty="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000"/>
              <a:buFont typeface="Arial"/>
              <a:buNone/>
            </a:pPr>
            <a:endParaRPr sz="2000" b="0" i="0" u="none" strike="noStrike" cap="none" dirty="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000"/>
              <a:buFont typeface="Arial"/>
              <a:buNone/>
            </a:pPr>
            <a:br>
              <a:rPr lang="en-US" sz="2000" b="1" i="0" u="none" strike="noStrike" cap="none" dirty="0">
                <a:solidFill>
                  <a:srgbClr val="FF0000"/>
                </a:solidFill>
                <a:latin typeface="Times New Roman"/>
                <a:ea typeface="Times New Roman"/>
                <a:cs typeface="Times New Roman"/>
                <a:sym typeface="Times New Roman"/>
              </a:rPr>
            </a:br>
            <a:r>
              <a:rPr lang="en-US" sz="2000" b="1" i="0" u="none" strike="noStrike" cap="none" dirty="0">
                <a:solidFill>
                  <a:srgbClr val="FF0000"/>
                </a:solidFill>
                <a:latin typeface="Times New Roman"/>
                <a:ea typeface="Times New Roman"/>
                <a:cs typeface="Times New Roman"/>
                <a:sym typeface="Times New Roman"/>
              </a:rPr>
              <a:t>Group ID : 5</a:t>
            </a:r>
            <a:endParaRPr sz="2000" b="1" i="0" u="none" strike="noStrike" cap="none" dirty="0">
              <a:solidFill>
                <a:srgbClr val="FF0000"/>
              </a:solidFill>
              <a:latin typeface="Times New Roman"/>
              <a:ea typeface="Times New Roman"/>
              <a:cs typeface="Times New Roman"/>
              <a:sym typeface="Times New Roman"/>
            </a:endParaRPr>
          </a:p>
        </p:txBody>
      </p:sp>
      <p:sp>
        <p:nvSpPr>
          <p:cNvPr id="81" name="Google Shape;81;p12"/>
          <p:cNvSpPr txBox="1"/>
          <p:nvPr/>
        </p:nvSpPr>
        <p:spPr>
          <a:xfrm>
            <a:off x="6109855" y="4973781"/>
            <a:ext cx="5777400" cy="120028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Group Members:</a:t>
            </a:r>
            <a:r>
              <a:rPr lang="en-US" sz="1800" dirty="0">
                <a:solidFill>
                  <a:schemeClr val="dk1"/>
                </a:solidFill>
                <a:latin typeface="Times New Roman"/>
                <a:ea typeface="Times New Roman"/>
                <a:cs typeface="Times New Roman"/>
                <a:sym typeface="Times New Roman"/>
              </a:rPr>
              <a:t> </a:t>
            </a:r>
            <a:r>
              <a:rPr lang="en-US" sz="1800" b="0" i="0" u="none" strike="noStrike" cap="none" dirty="0">
                <a:solidFill>
                  <a:schemeClr val="dk1"/>
                </a:solidFill>
                <a:latin typeface="Times New Roman"/>
                <a:ea typeface="Times New Roman"/>
                <a:cs typeface="Times New Roman"/>
                <a:sym typeface="Times New Roman"/>
              </a:rPr>
              <a:t>    Md Moinuddin Quazi 	C-54</a:t>
            </a:r>
            <a:endParaRPr sz="1800" b="0" i="0" u="none" strike="noStrike" cap="none" dirty="0">
              <a:solidFill>
                <a:schemeClr val="dk1"/>
              </a:solidFill>
              <a:latin typeface="Times New Roman"/>
              <a:ea typeface="Times New Roman"/>
              <a:cs typeface="Times New Roman"/>
              <a:sym typeface="Times New Roman"/>
            </a:endParaRPr>
          </a:p>
          <a:p>
            <a:pPr marL="1371600" marR="0" lvl="0" indent="45720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Shravani </a:t>
            </a:r>
            <a:r>
              <a:rPr lang="en-US" sz="1800" b="0" i="0" u="none" strike="noStrike" cap="none" dirty="0" err="1">
                <a:solidFill>
                  <a:schemeClr val="dk1"/>
                </a:solidFill>
                <a:latin typeface="Times New Roman"/>
                <a:ea typeface="Times New Roman"/>
                <a:cs typeface="Times New Roman"/>
                <a:sym typeface="Times New Roman"/>
              </a:rPr>
              <a:t>Sawekar</a:t>
            </a:r>
            <a:r>
              <a:rPr lang="en-US" sz="1800" b="0" i="0" u="none" strike="noStrike" cap="none" dirty="0">
                <a:solidFill>
                  <a:schemeClr val="dk1"/>
                </a:solidFill>
                <a:latin typeface="Times New Roman"/>
                <a:ea typeface="Times New Roman"/>
                <a:cs typeface="Times New Roman"/>
                <a:sym typeface="Times New Roman"/>
              </a:rPr>
              <a:t>		C-50</a:t>
            </a:r>
            <a:endParaRPr sz="1800" b="0" i="0" u="none" strike="noStrike" cap="none" dirty="0">
              <a:solidFill>
                <a:schemeClr val="dk1"/>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                                </a:t>
            </a:r>
            <a:r>
              <a:rPr lang="en-US" sz="1800" dirty="0">
                <a:solidFill>
                  <a:schemeClr val="dk1"/>
                </a:solidFill>
                <a:latin typeface="Times New Roman"/>
                <a:ea typeface="Times New Roman"/>
                <a:cs typeface="Times New Roman"/>
                <a:sym typeface="Times New Roman"/>
              </a:rPr>
              <a:t>Harshada Chavan		C</a:t>
            </a:r>
            <a:r>
              <a:rPr lang="en-US" sz="1800" b="0" i="0" u="none" strike="noStrike" cap="none" dirty="0">
                <a:solidFill>
                  <a:schemeClr val="dk1"/>
                </a:solidFill>
                <a:latin typeface="Times New Roman"/>
                <a:ea typeface="Times New Roman"/>
                <a:cs typeface="Times New Roman"/>
                <a:sym typeface="Times New Roman"/>
              </a:rPr>
              <a:t>-46</a:t>
            </a: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                          </a:t>
            </a:r>
            <a:endParaRPr sz="1800" b="0" i="0" u="none" strike="noStrike" cap="none" dirty="0">
              <a:solidFill>
                <a:schemeClr val="dk1"/>
              </a:solidFill>
              <a:latin typeface="Times New Roman"/>
              <a:ea typeface="Times New Roman"/>
              <a:cs typeface="Times New Roman"/>
              <a:sym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graphicFrame>
        <p:nvGraphicFramePr>
          <p:cNvPr id="86" name="Google Shape;86;p13"/>
          <p:cNvGraphicFramePr/>
          <p:nvPr>
            <p:extLst>
              <p:ext uri="{D42A27DB-BD31-4B8C-83A1-F6EECF244321}">
                <p14:modId xmlns:p14="http://schemas.microsoft.com/office/powerpoint/2010/main" val="2308676115"/>
              </p:ext>
            </p:extLst>
          </p:nvPr>
        </p:nvGraphicFramePr>
        <p:xfrm>
          <a:off x="2700150" y="731603"/>
          <a:ext cx="8009000" cy="6025630"/>
        </p:xfrm>
        <a:graphic>
          <a:graphicData uri="http://schemas.openxmlformats.org/drawingml/2006/table">
            <a:tbl>
              <a:tblPr>
                <a:noFill/>
                <a:tableStyleId>{09D26DDB-0AB3-4B55-984C-C8273E174064}</a:tableStyleId>
              </a:tblPr>
              <a:tblGrid>
                <a:gridCol w="1289175">
                  <a:extLst>
                    <a:ext uri="{9D8B030D-6E8A-4147-A177-3AD203B41FA5}">
                      <a16:colId xmlns:a16="http://schemas.microsoft.com/office/drawing/2014/main" val="20000"/>
                    </a:ext>
                  </a:extLst>
                </a:gridCol>
                <a:gridCol w="5370925">
                  <a:extLst>
                    <a:ext uri="{9D8B030D-6E8A-4147-A177-3AD203B41FA5}">
                      <a16:colId xmlns:a16="http://schemas.microsoft.com/office/drawing/2014/main" val="20001"/>
                    </a:ext>
                  </a:extLst>
                </a:gridCol>
                <a:gridCol w="1348900">
                  <a:extLst>
                    <a:ext uri="{9D8B030D-6E8A-4147-A177-3AD203B41FA5}">
                      <a16:colId xmlns:a16="http://schemas.microsoft.com/office/drawing/2014/main" val="20002"/>
                    </a:ext>
                  </a:extLst>
                </a:gridCol>
              </a:tblGrid>
              <a:tr h="426700">
                <a:tc>
                  <a:txBody>
                    <a:bodyPr/>
                    <a:lstStyle/>
                    <a:p>
                      <a:pPr marL="0" lvl="0" indent="0" algn="ctr" rtl="0">
                        <a:spcBef>
                          <a:spcPts val="0"/>
                        </a:spcBef>
                        <a:spcAft>
                          <a:spcPts val="0"/>
                        </a:spcAft>
                        <a:buNone/>
                      </a:pPr>
                      <a:r>
                        <a:rPr lang="en-US" sz="1600">
                          <a:solidFill>
                            <a:schemeClr val="dk1"/>
                          </a:solidFill>
                          <a:latin typeface="Times New Roman" panose="02020603050405020304" pitchFamily="18" charset="0"/>
                          <a:ea typeface="Quicksand"/>
                          <a:cs typeface="Times New Roman" panose="02020603050405020304" pitchFamily="18" charset="0"/>
                          <a:sym typeface="Quicksand"/>
                        </a:rPr>
                        <a:t>Sr. No</a:t>
                      </a:r>
                      <a:endParaRPr sz="1600">
                        <a:solidFill>
                          <a:schemeClr val="dk1"/>
                        </a:solidFill>
                        <a:latin typeface="Times New Roman" panose="02020603050405020304" pitchFamily="18" charset="0"/>
                        <a:ea typeface="Quicksand"/>
                        <a:cs typeface="Times New Roman" panose="02020603050405020304" pitchFamily="18" charset="0"/>
                        <a:sym typeface="Quicksand"/>
                      </a:endParaRPr>
                    </a:p>
                  </a:txBody>
                  <a:tcPr marL="91425" marR="91425" marT="91425" marB="91425">
                    <a:lnL w="19050" cap="flat" cmpd="sng">
                      <a:solidFill>
                        <a:srgbClr val="999999"/>
                      </a:solidFill>
                      <a:prstDash val="solid"/>
                      <a:round/>
                      <a:headEnd type="none" w="sm" len="sm"/>
                      <a:tailEnd type="none" w="sm" len="sm"/>
                    </a:lnL>
                    <a:lnR w="19050" cap="flat" cmpd="sng">
                      <a:solidFill>
                        <a:srgbClr val="999999"/>
                      </a:solidFill>
                      <a:prstDash val="solid"/>
                      <a:round/>
                      <a:headEnd type="none" w="sm" len="sm"/>
                      <a:tailEnd type="none" w="sm" len="sm"/>
                    </a:lnR>
                    <a:lnT w="19050" cap="flat" cmpd="sng">
                      <a:solidFill>
                        <a:srgbClr val="999999"/>
                      </a:solidFill>
                      <a:prstDash val="solid"/>
                      <a:round/>
                      <a:headEnd type="none" w="sm" len="sm"/>
                      <a:tailEnd type="none" w="sm" len="sm"/>
                    </a:lnT>
                    <a:lnB w="9525" cap="flat" cmpd="sng">
                      <a:solidFill>
                        <a:srgbClr val="999999"/>
                      </a:solidFill>
                      <a:prstDash val="solid"/>
                      <a:round/>
                      <a:headEnd type="none" w="sm" len="sm"/>
                      <a:tailEnd type="none" w="sm" len="sm"/>
                    </a:lnB>
                    <a:solidFill>
                      <a:srgbClr val="D9D9D9"/>
                    </a:solidFill>
                  </a:tcPr>
                </a:tc>
                <a:tc>
                  <a:txBody>
                    <a:bodyPr/>
                    <a:lstStyle/>
                    <a:p>
                      <a:pPr marL="0" lvl="0" indent="0" algn="ctr" rtl="0">
                        <a:spcBef>
                          <a:spcPts val="0"/>
                        </a:spcBef>
                        <a:spcAft>
                          <a:spcPts val="0"/>
                        </a:spcAft>
                        <a:buNone/>
                      </a:pPr>
                      <a:r>
                        <a:rPr lang="en-US" sz="1600">
                          <a:solidFill>
                            <a:schemeClr val="dk1"/>
                          </a:solidFill>
                          <a:latin typeface="Times New Roman" panose="02020603050405020304" pitchFamily="18" charset="0"/>
                          <a:ea typeface="Quicksand"/>
                          <a:cs typeface="Times New Roman" panose="02020603050405020304" pitchFamily="18" charset="0"/>
                          <a:sym typeface="Quicksand"/>
                        </a:rPr>
                        <a:t>Table Of Contents</a:t>
                      </a:r>
                      <a:endParaRPr sz="1600">
                        <a:solidFill>
                          <a:schemeClr val="dk1"/>
                        </a:solidFill>
                        <a:latin typeface="Times New Roman" panose="02020603050405020304" pitchFamily="18" charset="0"/>
                        <a:ea typeface="Quicksand"/>
                        <a:cs typeface="Times New Roman" panose="02020603050405020304" pitchFamily="18" charset="0"/>
                        <a:sym typeface="Quicksand"/>
                      </a:endParaRPr>
                    </a:p>
                  </a:txBody>
                  <a:tcPr marL="91425" marR="91425" marT="91425" marB="91425">
                    <a:lnL w="19050" cap="flat" cmpd="sng">
                      <a:solidFill>
                        <a:srgbClr val="999999"/>
                      </a:solidFill>
                      <a:prstDash val="solid"/>
                      <a:round/>
                      <a:headEnd type="none" w="sm" len="sm"/>
                      <a:tailEnd type="none" w="sm" len="sm"/>
                    </a:lnL>
                    <a:lnR w="19050" cap="flat" cmpd="sng">
                      <a:solidFill>
                        <a:srgbClr val="999999"/>
                      </a:solidFill>
                      <a:prstDash val="solid"/>
                      <a:round/>
                      <a:headEnd type="none" w="sm" len="sm"/>
                      <a:tailEnd type="none" w="sm" len="sm"/>
                    </a:lnR>
                    <a:lnT w="19050" cap="flat" cmpd="sng">
                      <a:solidFill>
                        <a:srgbClr val="999999"/>
                      </a:solidFill>
                      <a:prstDash val="solid"/>
                      <a:round/>
                      <a:headEnd type="none" w="sm" len="sm"/>
                      <a:tailEnd type="none" w="sm" len="sm"/>
                    </a:lnT>
                    <a:lnB w="9525" cap="flat" cmpd="sng">
                      <a:solidFill>
                        <a:srgbClr val="999999"/>
                      </a:solidFill>
                      <a:prstDash val="solid"/>
                      <a:round/>
                      <a:headEnd type="none" w="sm" len="sm"/>
                      <a:tailEnd type="none" w="sm" len="sm"/>
                    </a:lnB>
                    <a:solidFill>
                      <a:srgbClr val="D9D9D9"/>
                    </a:solidFill>
                  </a:tcPr>
                </a:tc>
                <a:tc>
                  <a:txBody>
                    <a:bodyPr/>
                    <a:lstStyle/>
                    <a:p>
                      <a:pPr marL="0" lvl="0" indent="0" algn="ctr" rtl="0">
                        <a:spcBef>
                          <a:spcPts val="0"/>
                        </a:spcBef>
                        <a:spcAft>
                          <a:spcPts val="0"/>
                        </a:spcAft>
                        <a:buNone/>
                      </a:pPr>
                      <a:r>
                        <a:rPr lang="en-US" sz="1600">
                          <a:solidFill>
                            <a:schemeClr val="dk1"/>
                          </a:solidFill>
                          <a:latin typeface="Times New Roman" panose="02020603050405020304" pitchFamily="18" charset="0"/>
                          <a:ea typeface="Quicksand"/>
                          <a:cs typeface="Times New Roman" panose="02020603050405020304" pitchFamily="18" charset="0"/>
                          <a:sym typeface="Quicksand"/>
                        </a:rPr>
                        <a:t>Page. No</a:t>
                      </a:r>
                      <a:endParaRPr sz="1600">
                        <a:solidFill>
                          <a:schemeClr val="dk1"/>
                        </a:solidFill>
                        <a:latin typeface="Times New Roman" panose="02020603050405020304" pitchFamily="18" charset="0"/>
                        <a:ea typeface="Quicksand"/>
                        <a:cs typeface="Times New Roman" panose="02020603050405020304" pitchFamily="18" charset="0"/>
                        <a:sym typeface="Quicksand"/>
                      </a:endParaRPr>
                    </a:p>
                  </a:txBody>
                  <a:tcPr marL="91425" marR="91425" marT="91425" marB="91425">
                    <a:lnL w="19050" cap="flat" cmpd="sng">
                      <a:solidFill>
                        <a:srgbClr val="999999"/>
                      </a:solidFill>
                      <a:prstDash val="solid"/>
                      <a:round/>
                      <a:headEnd type="none" w="sm" len="sm"/>
                      <a:tailEnd type="none" w="sm" len="sm"/>
                    </a:lnL>
                    <a:lnR w="19050" cap="flat" cmpd="sng">
                      <a:solidFill>
                        <a:srgbClr val="999999"/>
                      </a:solidFill>
                      <a:prstDash val="solid"/>
                      <a:round/>
                      <a:headEnd type="none" w="sm" len="sm"/>
                      <a:tailEnd type="none" w="sm" len="sm"/>
                    </a:lnR>
                    <a:lnT w="19050" cap="flat" cmpd="sng">
                      <a:solidFill>
                        <a:srgbClr val="999999"/>
                      </a:solidFill>
                      <a:prstDash val="solid"/>
                      <a:round/>
                      <a:headEnd type="none" w="sm" len="sm"/>
                      <a:tailEnd type="none" w="sm" len="sm"/>
                    </a:lnT>
                    <a:lnB w="9525" cap="flat" cmpd="sng">
                      <a:solidFill>
                        <a:srgbClr val="999999"/>
                      </a:solidFill>
                      <a:prstDash val="solid"/>
                      <a:round/>
                      <a:headEnd type="none" w="sm" len="sm"/>
                      <a:tailEnd type="none" w="sm" len="sm"/>
                    </a:lnB>
                    <a:solidFill>
                      <a:srgbClr val="D9D9D9"/>
                    </a:solidFill>
                  </a:tcPr>
                </a:tc>
                <a:extLst>
                  <a:ext uri="{0D108BD9-81ED-4DB2-BD59-A6C34878D82A}">
                    <a16:rowId xmlns:a16="http://schemas.microsoft.com/office/drawing/2014/main" val="10000"/>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999999"/>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dirty="0">
                          <a:latin typeface="Times New Roman" panose="02020603050405020304" pitchFamily="18" charset="0"/>
                          <a:ea typeface="Playfair Display"/>
                          <a:cs typeface="Times New Roman" panose="02020603050405020304" pitchFamily="18" charset="0"/>
                          <a:sym typeface="Playfair Display"/>
                        </a:rPr>
                        <a:t>Abstract</a:t>
                      </a:r>
                      <a:endParaRPr sz="1300" dirty="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999999"/>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3</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999999"/>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80975">
                <a:tc>
                  <a:txBody>
                    <a:bodyPr/>
                    <a:lstStyle/>
                    <a:p>
                      <a:pPr marL="0" lvl="0" indent="0" algn="ctr" rtl="0">
                        <a:spcBef>
                          <a:spcPts val="0"/>
                        </a:spcBef>
                        <a:spcAft>
                          <a:spcPts val="0"/>
                        </a:spcAft>
                        <a:buNone/>
                      </a:pPr>
                      <a:r>
                        <a:rPr lang="en-US" sz="1300" dirty="0">
                          <a:solidFill>
                            <a:schemeClr val="dk1"/>
                          </a:solidFill>
                          <a:latin typeface="Times New Roman" panose="02020603050405020304" pitchFamily="18" charset="0"/>
                          <a:ea typeface="Playfair Display"/>
                          <a:cs typeface="Times New Roman" panose="02020603050405020304" pitchFamily="18" charset="0"/>
                          <a:sym typeface="Playfair Display"/>
                        </a:rPr>
                        <a:t>2.</a:t>
                      </a:r>
                      <a:endParaRPr sz="1300" dirty="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Introduction</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4</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3.</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Literature Survey</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5,6,7</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4.</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Research Gap</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8</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5.</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Problem Statement</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9</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6.</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Objective</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10</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7.</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Scope</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11</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7"/>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8.</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SRS</a:t>
                      </a:r>
                      <a:endParaRPr>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12,13</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8"/>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9.</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Proposed Architecture</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14</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9"/>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10.</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Clr>
                          <a:schemeClr val="dk1"/>
                        </a:buClr>
                        <a:buSzPts val="1100"/>
                        <a:buFont typeface="Arial"/>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Activity Diagram</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15</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0"/>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11.</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Clr>
                          <a:schemeClr val="dk1"/>
                        </a:buClr>
                        <a:buSzPts val="1100"/>
                        <a:buFont typeface="Arial"/>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Use case Daigram</a:t>
                      </a:r>
                      <a:endParaRPr>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16</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1"/>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12.</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Clr>
                          <a:schemeClr val="dk1"/>
                        </a:buClr>
                        <a:buSzPts val="1100"/>
                        <a:buFont typeface="Arial"/>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Software And Hardware Requirements</a:t>
                      </a:r>
                      <a:endParaRPr>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18</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2"/>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13..</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Conclusion</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19</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3"/>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14.</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Reference</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20</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4"/>
                  </a:ext>
                </a:extLst>
              </a:tr>
            </a:tbl>
          </a:graphicData>
        </a:graphic>
      </p:graphicFrame>
      <p:pic>
        <p:nvPicPr>
          <p:cNvPr id="87" name="Google Shape;87;p13"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88" name="Google Shape;88;p13"/>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4"/>
          <p:cNvSpPr txBox="1"/>
          <p:nvPr/>
        </p:nvSpPr>
        <p:spPr>
          <a:xfrm>
            <a:off x="5014200" y="340175"/>
            <a:ext cx="2088600" cy="738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Abstract</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94" name="Google Shape;94;p14"/>
          <p:cNvSpPr txBox="1"/>
          <p:nvPr/>
        </p:nvSpPr>
        <p:spPr>
          <a:xfrm>
            <a:off x="438150" y="1123575"/>
            <a:ext cx="11558700" cy="3631733"/>
          </a:xfrm>
          <a:prstGeom prst="rect">
            <a:avLst/>
          </a:prstGeom>
          <a:noFill/>
          <a:ln>
            <a:noFill/>
          </a:ln>
        </p:spPr>
        <p:txBody>
          <a:bodyPr spcFirstLastPara="1" wrap="square" lIns="91425" tIns="91425" rIns="91425" bIns="91425" anchor="t" anchorCtr="0">
            <a:spAutoFit/>
          </a:bodyPr>
          <a:lstStyle/>
          <a:p>
            <a:pPr marL="457200" lvl="0" indent="-330200" algn="just" rtl="0">
              <a:lnSpc>
                <a:spcPct val="200000"/>
              </a:lnSpc>
              <a:spcBef>
                <a:spcPts val="0"/>
              </a:spcBef>
              <a:spcAft>
                <a:spcPts val="0"/>
              </a:spcAft>
              <a:buClr>
                <a:schemeClr val="dk1"/>
              </a:buClr>
              <a:buSzPts val="1600"/>
              <a:buFont typeface="Montserrat"/>
              <a:buChar char="●"/>
            </a:pPr>
            <a:r>
              <a:rPr lang="en-US" sz="1600" dirty="0">
                <a:solidFill>
                  <a:schemeClr val="dk1"/>
                </a:solidFill>
                <a:latin typeface="Times New Roman" panose="02020603050405020304" pitchFamily="18" charset="0"/>
                <a:ea typeface="Montserrat"/>
                <a:cs typeface="Times New Roman" panose="02020603050405020304" pitchFamily="18" charset="0"/>
                <a:sym typeface="Montserrat"/>
              </a:rPr>
              <a:t>This project proposes the development of an AI-driven football analysis system that utilizes cutting-edge computer vision techniques and deep learning algorithms. The system is designed to automatically detect and track players and the ball during a football match, employing the YOLO framework for rapid object detection and OpenCV for robust image processing. By processing live or recorded match footage, the platform generates detailed metrics related to player positioning, movement patterns, and overall team strategy. The integration of deep learning models allows the system to adapt to various game conditions and enhance its predictive accuracy over time. Ultimately, this automated approach to sports analytics aims to reduce the dependency on manual review and provide coaches and sports analysts with real-time, data-driven insights to inform tactical decisions and performance improvements</a:t>
            </a:r>
            <a:endParaRPr sz="1600" dirty="0">
              <a:latin typeface="Times New Roman" panose="02020603050405020304" pitchFamily="18" charset="0"/>
              <a:ea typeface="Montserrat"/>
              <a:cs typeface="Times New Roman" panose="02020603050405020304" pitchFamily="18" charset="0"/>
              <a:sym typeface="Montserrat"/>
            </a:endParaRPr>
          </a:p>
        </p:txBody>
      </p:sp>
      <p:pic>
        <p:nvPicPr>
          <p:cNvPr id="95" name="Google Shape;95;p14"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96" name="Google Shape;96;p14"/>
          <p:cNvSpPr txBox="1">
            <a:spLocks noGrp="1"/>
          </p:cNvSpPr>
          <p:nvPr>
            <p:ph type="sldNum" idx="12"/>
          </p:nvPr>
        </p:nvSpPr>
        <p:spPr>
          <a:xfrm>
            <a:off x="8610600" y="6374638"/>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3</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5"/>
          <p:cNvSpPr txBox="1"/>
          <p:nvPr/>
        </p:nvSpPr>
        <p:spPr>
          <a:xfrm>
            <a:off x="4703850" y="332025"/>
            <a:ext cx="2784300" cy="738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Introduction</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02" name="Google Shape;102;p15"/>
          <p:cNvSpPr txBox="1"/>
          <p:nvPr/>
        </p:nvSpPr>
        <p:spPr>
          <a:xfrm>
            <a:off x="309575" y="1083850"/>
            <a:ext cx="11415600" cy="4124176"/>
          </a:xfrm>
          <a:prstGeom prst="rect">
            <a:avLst/>
          </a:prstGeom>
          <a:noFill/>
          <a:ln>
            <a:noFill/>
          </a:ln>
        </p:spPr>
        <p:txBody>
          <a:bodyPr spcFirstLastPara="1" wrap="square" lIns="91425" tIns="91425" rIns="91425" bIns="91425" anchor="t" anchorCtr="0">
            <a:spAutoFit/>
          </a:bodyPr>
          <a:lstStyle/>
          <a:p>
            <a:pPr marL="457200" lvl="0" indent="-323850" algn="just" rtl="0">
              <a:lnSpc>
                <a:spcPct val="200000"/>
              </a:lnSpc>
              <a:spcBef>
                <a:spcPts val="0"/>
              </a:spcBef>
              <a:spcAft>
                <a:spcPts val="0"/>
              </a:spcAft>
              <a:buClr>
                <a:schemeClr val="dk1"/>
              </a:buClr>
              <a:buSzPts val="1500"/>
              <a:buFont typeface="Montserrat"/>
              <a:buChar char="●"/>
            </a:pPr>
            <a:r>
              <a:rPr lang="en-US" sz="1600" dirty="0">
                <a:solidFill>
                  <a:schemeClr val="dk1"/>
                </a:solidFill>
                <a:latin typeface="Times New Roman" panose="02020603050405020304" pitchFamily="18" charset="0"/>
                <a:ea typeface="Montserrat"/>
                <a:cs typeface="Times New Roman" panose="02020603050405020304" pitchFamily="18" charset="0"/>
                <a:sym typeface="Montserrat"/>
              </a:rPr>
              <a:t>The growing intersection of artificial intelligence, computer vision, and sports analytics has opened new avenues for automating performance evaluation in football. Traditional methods of video analysis are labor-intensive and prone to human error. By harnessing advanced object detection algorithms such as YOLO (You Only Look Once) and integrating them with powerful image processing libraries like OpenCV, modern systems are capable of real-time tracking and analysis of key game elements—such as players, ball trajectories, and tactical formations. This project aims to leverage these technologies to develop a comprehensive football analysis platform that not only streamlines the data acquisition process but also provides actionable insights for coaches, analysts, and players. The system’s design is rooted in deep learning methods that improve over time with more data, ensuring that the analysis remains accurate and contextually relevant during fast-paced match scenarios </a:t>
            </a:r>
          </a:p>
        </p:txBody>
      </p:sp>
      <p:pic>
        <p:nvPicPr>
          <p:cNvPr id="103" name="Google Shape;103;p15"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04" name="Google Shape;104;p15"/>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6"/>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5</a:t>
            </a:fld>
            <a:endParaRPr/>
          </a:p>
        </p:txBody>
      </p:sp>
      <p:sp>
        <p:nvSpPr>
          <p:cNvPr id="110" name="Google Shape;110;p16"/>
          <p:cNvSpPr txBox="1"/>
          <p:nvPr/>
        </p:nvSpPr>
        <p:spPr>
          <a:xfrm>
            <a:off x="4555050" y="81750"/>
            <a:ext cx="3081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800" b="1" dirty="0">
                <a:latin typeface="Times New Roman" panose="02020603050405020304" pitchFamily="18" charset="0"/>
                <a:ea typeface="Nunito"/>
                <a:cs typeface="Times New Roman" panose="02020603050405020304" pitchFamily="18" charset="0"/>
                <a:sym typeface="Nunito"/>
              </a:rPr>
              <a:t>Literature Survey</a:t>
            </a:r>
            <a:endParaRPr sz="2800" b="1" dirty="0">
              <a:latin typeface="Times New Roman" panose="02020603050405020304" pitchFamily="18" charset="0"/>
              <a:ea typeface="Nunito"/>
              <a:cs typeface="Times New Roman" panose="02020603050405020304" pitchFamily="18" charset="0"/>
              <a:sym typeface="Nunito"/>
            </a:endParaRPr>
          </a:p>
        </p:txBody>
      </p:sp>
      <p:pic>
        <p:nvPicPr>
          <p:cNvPr id="111" name="Google Shape;111;p16"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01300" y="81750"/>
            <a:ext cx="1223518" cy="723300"/>
          </a:xfrm>
          <a:prstGeom prst="rect">
            <a:avLst/>
          </a:prstGeom>
          <a:noFill/>
          <a:ln>
            <a:noFill/>
          </a:ln>
        </p:spPr>
      </p:pic>
      <p:graphicFrame>
        <p:nvGraphicFramePr>
          <p:cNvPr id="113" name="Google Shape;113;p16"/>
          <p:cNvGraphicFramePr/>
          <p:nvPr>
            <p:extLst>
              <p:ext uri="{D42A27DB-BD31-4B8C-83A1-F6EECF244321}">
                <p14:modId xmlns:p14="http://schemas.microsoft.com/office/powerpoint/2010/main" val="45258827"/>
              </p:ext>
            </p:extLst>
          </p:nvPr>
        </p:nvGraphicFramePr>
        <p:xfrm>
          <a:off x="0" y="805051"/>
          <a:ext cx="12192000" cy="5703638"/>
        </p:xfrm>
        <a:graphic>
          <a:graphicData uri="http://schemas.openxmlformats.org/drawingml/2006/table">
            <a:tbl>
              <a:tblPr>
                <a:noFill/>
                <a:tableStyleId>{09D26DDB-0AB3-4B55-984C-C8273E174064}</a:tableStyleId>
              </a:tblPr>
              <a:tblGrid>
                <a:gridCol w="679806">
                  <a:extLst>
                    <a:ext uri="{9D8B030D-6E8A-4147-A177-3AD203B41FA5}">
                      <a16:colId xmlns:a16="http://schemas.microsoft.com/office/drawing/2014/main" val="20000"/>
                    </a:ext>
                  </a:extLst>
                </a:gridCol>
                <a:gridCol w="2533095">
                  <a:extLst>
                    <a:ext uri="{9D8B030D-6E8A-4147-A177-3AD203B41FA5}">
                      <a16:colId xmlns:a16="http://schemas.microsoft.com/office/drawing/2014/main" val="20001"/>
                    </a:ext>
                  </a:extLst>
                </a:gridCol>
                <a:gridCol w="2100615">
                  <a:extLst>
                    <a:ext uri="{9D8B030D-6E8A-4147-A177-3AD203B41FA5}">
                      <a16:colId xmlns:a16="http://schemas.microsoft.com/office/drawing/2014/main" val="20002"/>
                    </a:ext>
                  </a:extLst>
                </a:gridCol>
                <a:gridCol w="2316854">
                  <a:extLst>
                    <a:ext uri="{9D8B030D-6E8A-4147-A177-3AD203B41FA5}">
                      <a16:colId xmlns:a16="http://schemas.microsoft.com/office/drawing/2014/main" val="20003"/>
                    </a:ext>
                  </a:extLst>
                </a:gridCol>
                <a:gridCol w="2265370">
                  <a:extLst>
                    <a:ext uri="{9D8B030D-6E8A-4147-A177-3AD203B41FA5}">
                      <a16:colId xmlns:a16="http://schemas.microsoft.com/office/drawing/2014/main" val="20004"/>
                    </a:ext>
                  </a:extLst>
                </a:gridCol>
                <a:gridCol w="2296260">
                  <a:extLst>
                    <a:ext uri="{9D8B030D-6E8A-4147-A177-3AD203B41FA5}">
                      <a16:colId xmlns:a16="http://schemas.microsoft.com/office/drawing/2014/main" val="20005"/>
                    </a:ext>
                  </a:extLst>
                </a:gridCol>
              </a:tblGrid>
              <a:tr h="667190">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Sr No</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Title</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Author name </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Advantages</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Limitation</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Research Gap</a:t>
                      </a:r>
                      <a:endParaRPr sz="1600" b="1"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0"/>
                  </a:ext>
                </a:extLst>
              </a:tr>
              <a:tr h="2289938">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ADVANCED FOOTBALL ANALYSIS SYSTEM USING MACHINE LEARNING,  COMPUTER VISION, AND DEEP LEARNING TECHNIQUES -2024</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Ms. Gurpreet Kaur, Mr. Harsh Maheshwari,</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Ms. </a:t>
                      </a:r>
                      <a:r>
                        <a:rPr lang="en-US" dirty="0" err="1">
                          <a:latin typeface="Times New Roman" panose="02020603050405020304" pitchFamily="18" charset="0"/>
                          <a:cs typeface="Times New Roman" panose="02020603050405020304" pitchFamily="18" charset="0"/>
                        </a:rPr>
                        <a:t>Deepanjal</a:t>
                      </a:r>
                      <a:r>
                        <a:rPr lang="en-US" dirty="0">
                          <a:latin typeface="Times New Roman" panose="02020603050405020304" pitchFamily="18" charset="0"/>
                          <a:cs typeface="Times New Roman" panose="02020603050405020304" pitchFamily="18" charset="0"/>
                        </a:rPr>
                        <a:t> Uppal,</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Mr. Aditya Prakash Rai</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latin typeface="Times New Roman" panose="02020603050405020304" pitchFamily="18" charset="0"/>
                          <a:cs typeface="Times New Roman" panose="02020603050405020304" pitchFamily="18" charset="0"/>
                        </a:rPr>
                        <a:t>Adaptive and self-learning system for real-time dynamic stability.</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latin typeface="Times New Roman" panose="02020603050405020304" pitchFamily="18" charset="0"/>
                          <a:cs typeface="Times New Roman" panose="02020603050405020304" pitchFamily="18" charset="0"/>
                        </a:rPr>
                        <a:t>Requires minimal manual intervention once trained.</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latin typeface="Times New Roman" panose="02020603050405020304" pitchFamily="18" charset="0"/>
                          <a:cs typeface="Times New Roman" panose="02020603050405020304" pitchFamily="18" charset="0"/>
                        </a:rPr>
                        <a:t>Can handle complex, nonlinear balancing problems better than traditional controllers.</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High computational cost and time for training.</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Susceptible to instability in untrained scenarios.</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Performance heavily dependent on the quality of sensor data.</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Lack of robust techniques for real-world environment adaptability.</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Limited research on energy-efficient reinforcement learning models for robotics.</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Integration of obstacle avoidance while maintaining stability is underexplored.</a:t>
                      </a: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1"/>
                  </a:ext>
                </a:extLst>
              </a:tr>
              <a:tr h="2711774">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2</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FOOTBALL DETECTION WITH YOLOV3</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Bhavesh Pawar</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Real-time Processing:</a:t>
                      </a:r>
                      <a:r>
                        <a:rPr lang="en-US" dirty="0">
                          <a:latin typeface="Times New Roman" panose="02020603050405020304" pitchFamily="18" charset="0"/>
                          <a:cs typeface="Times New Roman" panose="02020603050405020304" pitchFamily="18" charset="0"/>
                        </a:rPr>
                        <a:t> YOLOv3 provides fast and efficient object detection suitable for live applications like football tracking.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High Accuracy:</a:t>
                      </a:r>
                      <a:r>
                        <a:rPr lang="en-US" dirty="0">
                          <a:latin typeface="Times New Roman" panose="02020603050405020304" pitchFamily="18" charset="0"/>
                          <a:cs typeface="Times New Roman" panose="02020603050405020304" pitchFamily="18" charset="0"/>
                        </a:rPr>
                        <a:t> The use of multi-scale detection layers and anchor boxes helps accurately detect objects of varying sizes, including small objects like footballs.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b="1" dirty="0">
                          <a:latin typeface="Times New Roman" panose="02020603050405020304" pitchFamily="18" charset="0"/>
                          <a:cs typeface="Times New Roman" panose="02020603050405020304" pitchFamily="18" charset="0"/>
                        </a:rPr>
                        <a:t>Sensitive to Training Data:</a:t>
                      </a:r>
                      <a:r>
                        <a:rPr lang="en-US" dirty="0">
                          <a:latin typeface="Times New Roman" panose="02020603050405020304" pitchFamily="18" charset="0"/>
                          <a:cs typeface="Times New Roman" panose="02020603050405020304" pitchFamily="18" charset="0"/>
                        </a:rPr>
                        <a:t> Performance heavily depends on the quality and quantity of annotated training data.</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Environmental Constraints:</a:t>
                      </a:r>
                      <a:r>
                        <a:rPr lang="en-US" dirty="0">
                          <a:latin typeface="Times New Roman" panose="02020603050405020304" pitchFamily="18" charset="0"/>
                          <a:cs typeface="Times New Roman" panose="02020603050405020304" pitchFamily="18" charset="0"/>
                        </a:rPr>
                        <a:t> Detection accuracy decreases under low-light or cluttered backgrounds.</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b="1" dirty="0">
                          <a:latin typeface="Times New Roman" panose="02020603050405020304" pitchFamily="18" charset="0"/>
                          <a:cs typeface="Times New Roman" panose="02020603050405020304" pitchFamily="18" charset="0"/>
                        </a:rPr>
                        <a:t>Occlusion Handling:</a:t>
                      </a:r>
                      <a:r>
                        <a:rPr lang="en-US" dirty="0">
                          <a:latin typeface="Times New Roman" panose="02020603050405020304" pitchFamily="18" charset="0"/>
                          <a:cs typeface="Times New Roman" panose="02020603050405020304" pitchFamily="18" charset="0"/>
                        </a:rPr>
                        <a:t> More advanced solutions are required to overcome persistent occlusions during gameplay.</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Multi-object Tracking:</a:t>
                      </a:r>
                      <a:r>
                        <a:rPr lang="en-US" dirty="0">
                          <a:latin typeface="Times New Roman" panose="02020603050405020304" pitchFamily="18" charset="0"/>
                          <a:cs typeface="Times New Roman" panose="02020603050405020304" pitchFamily="18" charset="0"/>
                        </a:rPr>
                        <a:t> Integration with more sophisticated tracking algorithms beyond SORT could be explored.</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D984E770-26E7-E345-B2BD-C6B77412220B}"/>
            </a:ext>
          </a:extLst>
        </p:cNvPr>
        <p:cNvGrpSpPr/>
        <p:nvPr/>
      </p:nvGrpSpPr>
      <p:grpSpPr>
        <a:xfrm>
          <a:off x="0" y="0"/>
          <a:ext cx="0" cy="0"/>
          <a:chOff x="0" y="0"/>
          <a:chExt cx="0" cy="0"/>
        </a:xfrm>
      </p:grpSpPr>
      <p:sp>
        <p:nvSpPr>
          <p:cNvPr id="109" name="Google Shape;109;p16">
            <a:extLst>
              <a:ext uri="{FF2B5EF4-FFF2-40B4-BE49-F238E27FC236}">
                <a16:creationId xmlns:a16="http://schemas.microsoft.com/office/drawing/2014/main" id="{2E863525-B66F-66A7-BAFC-A8362E6EE92D}"/>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6</a:t>
            </a:fld>
            <a:endParaRPr/>
          </a:p>
        </p:txBody>
      </p:sp>
      <p:sp>
        <p:nvSpPr>
          <p:cNvPr id="110" name="Google Shape;110;p16">
            <a:extLst>
              <a:ext uri="{FF2B5EF4-FFF2-40B4-BE49-F238E27FC236}">
                <a16:creationId xmlns:a16="http://schemas.microsoft.com/office/drawing/2014/main" id="{A6FC5C72-CAC8-C594-01BC-1EE4C66AEFEC}"/>
              </a:ext>
            </a:extLst>
          </p:cNvPr>
          <p:cNvSpPr txBox="1"/>
          <p:nvPr/>
        </p:nvSpPr>
        <p:spPr>
          <a:xfrm>
            <a:off x="4555050" y="81750"/>
            <a:ext cx="3081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800" b="1" dirty="0">
                <a:latin typeface="Times New Roman" panose="02020603050405020304" pitchFamily="18" charset="0"/>
                <a:ea typeface="Nunito"/>
                <a:cs typeface="Times New Roman" panose="02020603050405020304" pitchFamily="18" charset="0"/>
                <a:sym typeface="Nunito"/>
              </a:rPr>
              <a:t>Literature Survey</a:t>
            </a:r>
            <a:endParaRPr sz="2800" b="1" dirty="0">
              <a:latin typeface="Times New Roman" panose="02020603050405020304" pitchFamily="18" charset="0"/>
              <a:ea typeface="Nunito"/>
              <a:cs typeface="Times New Roman" panose="02020603050405020304" pitchFamily="18" charset="0"/>
              <a:sym typeface="Nunito"/>
            </a:endParaRPr>
          </a:p>
        </p:txBody>
      </p:sp>
      <p:pic>
        <p:nvPicPr>
          <p:cNvPr id="111" name="Google Shape;111;p16"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A033DC77-39ED-C42E-73BE-E1CDD3709246}"/>
              </a:ext>
            </a:extLst>
          </p:cNvPr>
          <p:cNvPicPr preferRelativeResize="0"/>
          <p:nvPr/>
        </p:nvPicPr>
        <p:blipFill rotWithShape="1">
          <a:blip r:embed="rId3">
            <a:alphaModFix/>
          </a:blip>
          <a:srcRect/>
          <a:stretch/>
        </p:blipFill>
        <p:spPr>
          <a:xfrm>
            <a:off x="101300" y="81750"/>
            <a:ext cx="1223518" cy="723300"/>
          </a:xfrm>
          <a:prstGeom prst="rect">
            <a:avLst/>
          </a:prstGeom>
          <a:noFill/>
          <a:ln>
            <a:noFill/>
          </a:ln>
        </p:spPr>
      </p:pic>
      <p:graphicFrame>
        <p:nvGraphicFramePr>
          <p:cNvPr id="113" name="Google Shape;113;p16">
            <a:extLst>
              <a:ext uri="{FF2B5EF4-FFF2-40B4-BE49-F238E27FC236}">
                <a16:creationId xmlns:a16="http://schemas.microsoft.com/office/drawing/2014/main" id="{21418F01-0F69-EEC8-6FF8-F9E3A0E48A73}"/>
              </a:ext>
            </a:extLst>
          </p:cNvPr>
          <p:cNvGraphicFramePr/>
          <p:nvPr>
            <p:extLst>
              <p:ext uri="{D42A27DB-BD31-4B8C-83A1-F6EECF244321}">
                <p14:modId xmlns:p14="http://schemas.microsoft.com/office/powerpoint/2010/main" val="2109181118"/>
              </p:ext>
            </p:extLst>
          </p:nvPr>
        </p:nvGraphicFramePr>
        <p:xfrm>
          <a:off x="0" y="824230"/>
          <a:ext cx="12192001" cy="5532120"/>
        </p:xfrm>
        <a:graphic>
          <a:graphicData uri="http://schemas.openxmlformats.org/drawingml/2006/table">
            <a:tbl>
              <a:tblPr>
                <a:noFill/>
                <a:tableStyleId>{09D26DDB-0AB3-4B55-984C-C8273E174064}</a:tableStyleId>
              </a:tblPr>
              <a:tblGrid>
                <a:gridCol w="679806">
                  <a:extLst>
                    <a:ext uri="{9D8B030D-6E8A-4147-A177-3AD203B41FA5}">
                      <a16:colId xmlns:a16="http://schemas.microsoft.com/office/drawing/2014/main" val="20000"/>
                    </a:ext>
                  </a:extLst>
                </a:gridCol>
                <a:gridCol w="2533095">
                  <a:extLst>
                    <a:ext uri="{9D8B030D-6E8A-4147-A177-3AD203B41FA5}">
                      <a16:colId xmlns:a16="http://schemas.microsoft.com/office/drawing/2014/main" val="20001"/>
                    </a:ext>
                  </a:extLst>
                </a:gridCol>
                <a:gridCol w="2100615">
                  <a:extLst>
                    <a:ext uri="{9D8B030D-6E8A-4147-A177-3AD203B41FA5}">
                      <a16:colId xmlns:a16="http://schemas.microsoft.com/office/drawing/2014/main" val="20002"/>
                    </a:ext>
                  </a:extLst>
                </a:gridCol>
                <a:gridCol w="2316855">
                  <a:extLst>
                    <a:ext uri="{9D8B030D-6E8A-4147-A177-3AD203B41FA5}">
                      <a16:colId xmlns:a16="http://schemas.microsoft.com/office/drawing/2014/main" val="20003"/>
                    </a:ext>
                  </a:extLst>
                </a:gridCol>
                <a:gridCol w="2265370">
                  <a:extLst>
                    <a:ext uri="{9D8B030D-6E8A-4147-A177-3AD203B41FA5}">
                      <a16:colId xmlns:a16="http://schemas.microsoft.com/office/drawing/2014/main" val="20004"/>
                    </a:ext>
                  </a:extLst>
                </a:gridCol>
                <a:gridCol w="2296260">
                  <a:extLst>
                    <a:ext uri="{9D8B030D-6E8A-4147-A177-3AD203B41FA5}">
                      <a16:colId xmlns:a16="http://schemas.microsoft.com/office/drawing/2014/main" val="20005"/>
                    </a:ext>
                  </a:extLst>
                </a:gridCol>
              </a:tblGrid>
              <a:tr h="761002">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Sr No</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Title</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Author name </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Advantages</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Limitation</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Research Gap</a:t>
                      </a:r>
                      <a:endParaRPr sz="1600" b="1"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0"/>
                  </a:ext>
                </a:extLst>
              </a:tr>
              <a:tr h="2040999">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2</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FOOTBALL DETECTION WITH YOLOV3</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Bhavesh Pawar</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Robust to Complex Environments:</a:t>
                      </a:r>
                      <a:r>
                        <a:rPr lang="en-US" dirty="0">
                          <a:latin typeface="Times New Roman" panose="02020603050405020304" pitchFamily="18" charset="0"/>
                          <a:cs typeface="Times New Roman" panose="02020603050405020304" pitchFamily="18" charset="0"/>
                        </a:rPr>
                        <a:t> Effective in handling challenges like player occlusions and varying ball positions.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Limited Post-Processing:</a:t>
                      </a:r>
                      <a:r>
                        <a:rPr lang="en-US" dirty="0">
                          <a:latin typeface="Times New Roman" panose="02020603050405020304" pitchFamily="18" charset="0"/>
                          <a:cs typeface="Times New Roman" panose="02020603050405020304" pitchFamily="18" charset="0"/>
                        </a:rPr>
                        <a:t> Additional refinements may be necessary for removing false positives and enhancing detection results.</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Domain-specific Training:</a:t>
                      </a:r>
                      <a:r>
                        <a:rPr lang="en-US" dirty="0">
                          <a:latin typeface="Times New Roman" panose="02020603050405020304" pitchFamily="18" charset="0"/>
                          <a:cs typeface="Times New Roman" panose="02020603050405020304" pitchFamily="18" charset="0"/>
                        </a:rPr>
                        <a:t> Custom datasets for different camera angles and resolutions are underexplored for broader generalization.</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1"/>
                  </a:ext>
                </a:extLst>
              </a:tr>
              <a:tr h="2730119">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3</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Deep Learning Based Automated Sports Video Summarization Using YOLO</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Chakradhar </a:t>
                      </a:r>
                      <a:r>
                        <a:rPr lang="en-US" dirty="0" err="1">
                          <a:latin typeface="Times New Roman" panose="02020603050405020304" pitchFamily="18" charset="0"/>
                          <a:cs typeface="Times New Roman" panose="02020603050405020304" pitchFamily="18" charset="0"/>
                        </a:rPr>
                        <a:t>Guntuboina</a:t>
                      </a:r>
                      <a:r>
                        <a:rPr lang="en-US" dirty="0">
                          <a:latin typeface="Times New Roman" panose="02020603050405020304" pitchFamily="18" charset="0"/>
                          <a:cs typeface="Times New Roman" panose="02020603050405020304" pitchFamily="18" charset="0"/>
                        </a:rPr>
                        <a:t> et al</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r>
                        <a:rPr lang="en-US" b="1" dirty="0">
                          <a:latin typeface="Times New Roman" panose="02020603050405020304" pitchFamily="18" charset="0"/>
                          <a:cs typeface="Times New Roman" panose="02020603050405020304" pitchFamily="18" charset="0"/>
                        </a:rPr>
                        <a:t>Automated Key-Event Extraction:</a:t>
                      </a:r>
                      <a:r>
                        <a:rPr lang="en-US" dirty="0">
                          <a:latin typeface="Times New Roman" panose="02020603050405020304" pitchFamily="18" charset="0"/>
                          <a:cs typeface="Times New Roman" panose="02020603050405020304" pitchFamily="18" charset="0"/>
                        </a:rPr>
                        <a:t> The method automates the identification of significant events in sports videos, reducing the need for manual analysis.</a:t>
                      </a:r>
                    </a:p>
                    <a:p>
                      <a:endParaRPr lang="en-US" dirty="0">
                        <a:latin typeface="Times New Roman" panose="02020603050405020304" pitchFamily="18"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Dependence on Scoreboard Visibility:</a:t>
                      </a:r>
                      <a:r>
                        <a:rPr lang="en-US" dirty="0">
                          <a:latin typeface="Times New Roman" panose="02020603050405020304" pitchFamily="18" charset="0"/>
                          <a:cs typeface="Times New Roman" panose="02020603050405020304" pitchFamily="18" charset="0"/>
                        </a:rPr>
                        <a:t> The method relies on the visibility of the scoreboard in the video frames. If the scoreboard is obscured or not present, the system may struggle to detect key events accurately.</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b="1" dirty="0">
                          <a:latin typeface="Times New Roman" panose="02020603050405020304" pitchFamily="18" charset="0"/>
                          <a:cs typeface="Times New Roman" panose="02020603050405020304" pitchFamily="18" charset="0"/>
                        </a:rPr>
                        <a:t>Robustness to Occlusions:</a:t>
                      </a:r>
                      <a:r>
                        <a:rPr lang="en-US" dirty="0">
                          <a:latin typeface="Times New Roman" panose="02020603050405020304" pitchFamily="18" charset="0"/>
                          <a:cs typeface="Times New Roman" panose="02020603050405020304" pitchFamily="18" charset="0"/>
                        </a:rPr>
                        <a:t> Future research could focus on enhancing the system's robustness to occlusions or partial views of the scoreboard, improving detection accuracy in diverse scenarios.</a:t>
                      </a: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6962381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598748AF-0501-6A4C-FDF8-FDD18DECFB06}"/>
            </a:ext>
          </a:extLst>
        </p:cNvPr>
        <p:cNvGrpSpPr/>
        <p:nvPr/>
      </p:nvGrpSpPr>
      <p:grpSpPr>
        <a:xfrm>
          <a:off x="0" y="0"/>
          <a:ext cx="0" cy="0"/>
          <a:chOff x="0" y="0"/>
          <a:chExt cx="0" cy="0"/>
        </a:xfrm>
      </p:grpSpPr>
      <p:sp>
        <p:nvSpPr>
          <p:cNvPr id="109" name="Google Shape;109;p16">
            <a:extLst>
              <a:ext uri="{FF2B5EF4-FFF2-40B4-BE49-F238E27FC236}">
                <a16:creationId xmlns:a16="http://schemas.microsoft.com/office/drawing/2014/main" id="{D0A037E5-B9EB-22AD-E064-60041216CBCF}"/>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7</a:t>
            </a:fld>
            <a:endParaRPr/>
          </a:p>
        </p:txBody>
      </p:sp>
      <p:sp>
        <p:nvSpPr>
          <p:cNvPr id="110" name="Google Shape;110;p16">
            <a:extLst>
              <a:ext uri="{FF2B5EF4-FFF2-40B4-BE49-F238E27FC236}">
                <a16:creationId xmlns:a16="http://schemas.microsoft.com/office/drawing/2014/main" id="{97452E89-C9BD-D91B-D965-886FE3678583}"/>
              </a:ext>
            </a:extLst>
          </p:cNvPr>
          <p:cNvSpPr txBox="1"/>
          <p:nvPr/>
        </p:nvSpPr>
        <p:spPr>
          <a:xfrm>
            <a:off x="4555050" y="81750"/>
            <a:ext cx="3081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800" b="1" dirty="0">
                <a:latin typeface="Times New Roman" panose="02020603050405020304" pitchFamily="18" charset="0"/>
                <a:ea typeface="Nunito"/>
                <a:cs typeface="Times New Roman" panose="02020603050405020304" pitchFamily="18" charset="0"/>
                <a:sym typeface="Nunito"/>
              </a:rPr>
              <a:t>Literature Survey</a:t>
            </a:r>
            <a:endParaRPr sz="2800" b="1" dirty="0">
              <a:latin typeface="Times New Roman" panose="02020603050405020304" pitchFamily="18" charset="0"/>
              <a:ea typeface="Nunito"/>
              <a:cs typeface="Times New Roman" panose="02020603050405020304" pitchFamily="18" charset="0"/>
              <a:sym typeface="Nunito"/>
            </a:endParaRPr>
          </a:p>
        </p:txBody>
      </p:sp>
      <p:pic>
        <p:nvPicPr>
          <p:cNvPr id="111" name="Google Shape;111;p16"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DDB15AD5-256A-18DE-2ECB-7626B94C77E4}"/>
              </a:ext>
            </a:extLst>
          </p:cNvPr>
          <p:cNvPicPr preferRelativeResize="0"/>
          <p:nvPr/>
        </p:nvPicPr>
        <p:blipFill rotWithShape="1">
          <a:blip r:embed="rId3">
            <a:alphaModFix/>
          </a:blip>
          <a:srcRect/>
          <a:stretch/>
        </p:blipFill>
        <p:spPr>
          <a:xfrm>
            <a:off x="101300" y="81750"/>
            <a:ext cx="1223518" cy="723300"/>
          </a:xfrm>
          <a:prstGeom prst="rect">
            <a:avLst/>
          </a:prstGeom>
          <a:noFill/>
          <a:ln>
            <a:noFill/>
          </a:ln>
        </p:spPr>
      </p:pic>
      <p:graphicFrame>
        <p:nvGraphicFramePr>
          <p:cNvPr id="113" name="Google Shape;113;p16">
            <a:extLst>
              <a:ext uri="{FF2B5EF4-FFF2-40B4-BE49-F238E27FC236}">
                <a16:creationId xmlns:a16="http://schemas.microsoft.com/office/drawing/2014/main" id="{14C6E0D6-2AFC-BD16-3471-06796B93DBF0}"/>
              </a:ext>
            </a:extLst>
          </p:cNvPr>
          <p:cNvGraphicFramePr/>
          <p:nvPr>
            <p:extLst>
              <p:ext uri="{D42A27DB-BD31-4B8C-83A1-F6EECF244321}">
                <p14:modId xmlns:p14="http://schemas.microsoft.com/office/powerpoint/2010/main" val="1001270303"/>
              </p:ext>
            </p:extLst>
          </p:nvPr>
        </p:nvGraphicFramePr>
        <p:xfrm>
          <a:off x="0" y="805050"/>
          <a:ext cx="12192000" cy="5414518"/>
        </p:xfrm>
        <a:graphic>
          <a:graphicData uri="http://schemas.openxmlformats.org/drawingml/2006/table">
            <a:tbl>
              <a:tblPr>
                <a:noFill/>
                <a:tableStyleId>{09D26DDB-0AB3-4B55-984C-C8273E174064}</a:tableStyleId>
              </a:tblPr>
              <a:tblGrid>
                <a:gridCol w="679806">
                  <a:extLst>
                    <a:ext uri="{9D8B030D-6E8A-4147-A177-3AD203B41FA5}">
                      <a16:colId xmlns:a16="http://schemas.microsoft.com/office/drawing/2014/main" val="20000"/>
                    </a:ext>
                  </a:extLst>
                </a:gridCol>
                <a:gridCol w="2533095">
                  <a:extLst>
                    <a:ext uri="{9D8B030D-6E8A-4147-A177-3AD203B41FA5}">
                      <a16:colId xmlns:a16="http://schemas.microsoft.com/office/drawing/2014/main" val="20001"/>
                    </a:ext>
                  </a:extLst>
                </a:gridCol>
                <a:gridCol w="2100615">
                  <a:extLst>
                    <a:ext uri="{9D8B030D-6E8A-4147-A177-3AD203B41FA5}">
                      <a16:colId xmlns:a16="http://schemas.microsoft.com/office/drawing/2014/main" val="20002"/>
                    </a:ext>
                  </a:extLst>
                </a:gridCol>
                <a:gridCol w="2316855">
                  <a:extLst>
                    <a:ext uri="{9D8B030D-6E8A-4147-A177-3AD203B41FA5}">
                      <a16:colId xmlns:a16="http://schemas.microsoft.com/office/drawing/2014/main" val="20003"/>
                    </a:ext>
                  </a:extLst>
                </a:gridCol>
                <a:gridCol w="2265369">
                  <a:extLst>
                    <a:ext uri="{9D8B030D-6E8A-4147-A177-3AD203B41FA5}">
                      <a16:colId xmlns:a16="http://schemas.microsoft.com/office/drawing/2014/main" val="20004"/>
                    </a:ext>
                  </a:extLst>
                </a:gridCol>
                <a:gridCol w="2296260">
                  <a:extLst>
                    <a:ext uri="{9D8B030D-6E8A-4147-A177-3AD203B41FA5}">
                      <a16:colId xmlns:a16="http://schemas.microsoft.com/office/drawing/2014/main" val="20005"/>
                    </a:ext>
                  </a:extLst>
                </a:gridCol>
              </a:tblGrid>
              <a:tr h="784647">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Sr No</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Title</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Author name </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Advantages</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Limitation</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Research Gap</a:t>
                      </a:r>
                      <a:endParaRPr sz="1600" b="1"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0"/>
                  </a:ext>
                </a:extLst>
              </a:tr>
              <a:tr h="4629871">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3</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Deep Learning Based Automated Sports Video Summarization Using YOLO</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Chakradhar </a:t>
                      </a:r>
                      <a:r>
                        <a:rPr lang="en-US" dirty="0" err="1">
                          <a:latin typeface="Times New Roman" panose="02020603050405020304" pitchFamily="18" charset="0"/>
                          <a:cs typeface="Times New Roman" panose="02020603050405020304" pitchFamily="18" charset="0"/>
                        </a:rPr>
                        <a:t>Guntuboina</a:t>
                      </a:r>
                      <a:r>
                        <a:rPr lang="en-US" dirty="0">
                          <a:latin typeface="Times New Roman" panose="02020603050405020304" pitchFamily="18" charset="0"/>
                          <a:cs typeface="Times New Roman" panose="02020603050405020304" pitchFamily="18" charset="0"/>
                        </a:rPr>
                        <a:t> et al</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r>
                        <a:rPr lang="en-US" b="1" dirty="0">
                          <a:latin typeface="Times New Roman" panose="02020603050405020304" pitchFamily="18" charset="0"/>
                          <a:cs typeface="Times New Roman" panose="02020603050405020304" pitchFamily="18" charset="0"/>
                        </a:rPr>
                        <a:t>Cost-Effectiveness:</a:t>
                      </a:r>
                      <a:r>
                        <a:rPr lang="en-US" dirty="0">
                          <a:latin typeface="Times New Roman" panose="02020603050405020304" pitchFamily="18" charset="0"/>
                          <a:cs typeface="Times New Roman" panose="02020603050405020304" pitchFamily="18" charset="0"/>
                        </a:rPr>
                        <a:t> By leveraging YOLO (You Only Look Once), a supervised learning-based object detection algorithm, the approach is computationally inexpensive, making it accessible for various applications.</a:t>
                      </a:r>
                    </a:p>
                    <a:p>
                      <a:r>
                        <a:rPr lang="en-US" b="1" dirty="0">
                          <a:latin typeface="Times New Roman" panose="02020603050405020304" pitchFamily="18" charset="0"/>
                          <a:cs typeface="Times New Roman" panose="02020603050405020304" pitchFamily="18" charset="0"/>
                        </a:rPr>
                        <a:t>Enhanced Analysis:</a:t>
                      </a:r>
                      <a:r>
                        <a:rPr lang="en-US" dirty="0">
                          <a:latin typeface="Times New Roman" panose="02020603050405020304" pitchFamily="18" charset="0"/>
                          <a:cs typeface="Times New Roman" panose="02020603050405020304" pitchFamily="18" charset="0"/>
                        </a:rPr>
                        <a:t> The technique provides precise timestamps of important events, aiding in detailed game analysis and performance evaluation.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r>
                        <a:rPr lang="en-US" b="1" dirty="0">
                          <a:latin typeface="Times New Roman" panose="02020603050405020304" pitchFamily="18" charset="0"/>
                          <a:cs typeface="Times New Roman" panose="02020603050405020304" pitchFamily="18" charset="0"/>
                        </a:rPr>
                        <a:t>Potential for False Positives:</a:t>
                      </a:r>
                      <a:r>
                        <a:rPr lang="en-US" dirty="0">
                          <a:latin typeface="Times New Roman" panose="02020603050405020304" pitchFamily="18" charset="0"/>
                          <a:cs typeface="Times New Roman" panose="02020603050405020304" pitchFamily="18" charset="0"/>
                        </a:rPr>
                        <a:t> Despite image processing techniques to reduce noise, there is still a possibility of false positives, which could affect the accuracy of event detection.</a:t>
                      </a:r>
                    </a:p>
                    <a:p>
                      <a:r>
                        <a:rPr lang="en-US" b="1" dirty="0">
                          <a:latin typeface="Times New Roman" panose="02020603050405020304" pitchFamily="18" charset="0"/>
                          <a:cs typeface="Times New Roman" panose="02020603050405020304" pitchFamily="18" charset="0"/>
                        </a:rPr>
                        <a:t>Limited to Specific Sports:</a:t>
                      </a:r>
                      <a:r>
                        <a:rPr lang="en-US" dirty="0">
                          <a:latin typeface="Times New Roman" panose="02020603050405020304" pitchFamily="18" charset="0"/>
                          <a:cs typeface="Times New Roman" panose="02020603050405020304" pitchFamily="18" charset="0"/>
                        </a:rPr>
                        <a:t> The approach is tailored for sports where the scoreboard is a central element, potentially limiting its applicability to other types of sports or events.</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r>
                        <a:rPr lang="en-US" b="1" dirty="0">
                          <a:latin typeface="Times New Roman" panose="02020603050405020304" pitchFamily="18" charset="0"/>
                          <a:cs typeface="Times New Roman" panose="02020603050405020304" pitchFamily="18" charset="0"/>
                        </a:rPr>
                        <a:t>Generalization Across Sports:</a:t>
                      </a:r>
                      <a:r>
                        <a:rPr lang="en-US" dirty="0">
                          <a:latin typeface="Times New Roman" panose="02020603050405020304" pitchFamily="18" charset="0"/>
                          <a:cs typeface="Times New Roman" panose="02020603050405020304" pitchFamily="18" charset="0"/>
                        </a:rPr>
                        <a:t> Adapting the method to work across various sports with different event markers could broaden its applicability.</a:t>
                      </a:r>
                    </a:p>
                    <a:p>
                      <a:r>
                        <a:rPr lang="en-US" b="1" dirty="0">
                          <a:latin typeface="Times New Roman" panose="02020603050405020304" pitchFamily="18" charset="0"/>
                          <a:cs typeface="Times New Roman" panose="02020603050405020304" pitchFamily="18" charset="0"/>
                        </a:rPr>
                        <a:t>Integration with Other Data Sources:</a:t>
                      </a:r>
                      <a:r>
                        <a:rPr lang="en-US" dirty="0">
                          <a:latin typeface="Times New Roman" panose="02020603050405020304" pitchFamily="18" charset="0"/>
                          <a:cs typeface="Times New Roman" panose="02020603050405020304" pitchFamily="18" charset="0"/>
                        </a:rPr>
                        <a:t> Incorporating additional data sources, such as audio cues or player tracking, could provide a more comprehensive analysis of key events.</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7403784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17"/>
          <p:cNvSpPr txBox="1">
            <a:spLocks noGrp="1"/>
          </p:cNvSpPr>
          <p:nvPr>
            <p:ph type="title"/>
          </p:nvPr>
        </p:nvSpPr>
        <p:spPr>
          <a:xfrm>
            <a:off x="838200" y="141984"/>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b="1" dirty="0">
                <a:latin typeface="Times New Roman" panose="02020603050405020304" pitchFamily="18" charset="0"/>
                <a:cs typeface="Times New Roman" panose="02020603050405020304" pitchFamily="18" charset="0"/>
              </a:rPr>
              <a:t>Research Gap</a:t>
            </a:r>
            <a:endParaRPr b="1" dirty="0">
              <a:latin typeface="Times New Roman" panose="02020603050405020304" pitchFamily="18" charset="0"/>
              <a:cs typeface="Times New Roman" panose="02020603050405020304" pitchFamily="18" charset="0"/>
            </a:endParaRPr>
          </a:p>
        </p:txBody>
      </p:sp>
      <p:sp>
        <p:nvSpPr>
          <p:cNvPr id="119" name="Google Shape;119;p17"/>
          <p:cNvSpPr txBox="1">
            <a:spLocks noGrp="1"/>
          </p:cNvSpPr>
          <p:nvPr>
            <p:ph type="body" idx="1"/>
          </p:nvPr>
        </p:nvSpPr>
        <p:spPr>
          <a:xfrm>
            <a:off x="838200" y="1825625"/>
            <a:ext cx="10515600" cy="4351200"/>
          </a:xfrm>
          <a:prstGeom prst="rect">
            <a:avLst/>
          </a:prstGeom>
        </p:spPr>
        <p:txBody>
          <a:bodyPr spcFirstLastPara="1" wrap="square" lIns="91425" tIns="45700" rIns="91425" bIns="45700" anchor="t" anchorCtr="0">
            <a:normAutofit/>
          </a:bodyPr>
          <a:lstStyle/>
          <a:p>
            <a:pPr marL="0" lvl="0" indent="0" algn="l" rtl="0">
              <a:spcBef>
                <a:spcPts val="1000"/>
              </a:spcBef>
              <a:spcAft>
                <a:spcPts val="0"/>
              </a:spcAft>
              <a:buNone/>
            </a:pPr>
            <a:r>
              <a:rPr lang="en-US" sz="1800" dirty="0">
                <a:latin typeface="Times New Roman" panose="02020603050405020304" pitchFamily="18" charset="0"/>
                <a:cs typeface="Times New Roman" panose="02020603050405020304" pitchFamily="18" charset="0"/>
              </a:rPr>
              <a:t>Identified Research Gaps:</a:t>
            </a:r>
          </a:p>
          <a:p>
            <a:pPr indent="-457200"/>
            <a:r>
              <a:rPr lang="en-US" sz="1800" dirty="0">
                <a:latin typeface="Times New Roman" panose="02020603050405020304" pitchFamily="18" charset="0"/>
                <a:cs typeface="Times New Roman" panose="02020603050405020304" pitchFamily="18" charset="0"/>
              </a:rPr>
              <a:t>Manual Effort: Time-consuming and prone to errors due to human intervention.</a:t>
            </a:r>
          </a:p>
          <a:p>
            <a:pPr indent="-457200"/>
            <a:r>
              <a:rPr lang="en-US" sz="1800" dirty="0">
                <a:latin typeface="Times New Roman" panose="02020603050405020304" pitchFamily="18" charset="0"/>
                <a:cs typeface="Times New Roman" panose="02020603050405020304" pitchFamily="18" charset="0"/>
              </a:rPr>
              <a:t>Limited AI Integration: Inadequate use of advanced AI models like YOLO for detecting and tracking players and ball.</a:t>
            </a:r>
          </a:p>
          <a:p>
            <a:pPr indent="-457200"/>
            <a:r>
              <a:rPr lang="en-US" sz="1800" dirty="0">
                <a:latin typeface="Times New Roman" panose="02020603050405020304" pitchFamily="18" charset="0"/>
                <a:cs typeface="Times New Roman" panose="02020603050405020304" pitchFamily="18" charset="0"/>
              </a:rPr>
              <a:t>Team Classification: Poor clustering methods for identifying team players by t-shirt colors.</a:t>
            </a:r>
          </a:p>
          <a:p>
            <a:pPr indent="-457200"/>
            <a:r>
              <a:rPr lang="en-US" sz="1800" dirty="0">
                <a:latin typeface="Times New Roman" panose="02020603050405020304" pitchFamily="18" charset="0"/>
                <a:cs typeface="Times New Roman" panose="02020603050405020304" pitchFamily="18" charset="0"/>
              </a:rPr>
              <a:t>Incomplete Analytics: No accurate distance, speed, or ball possession tracking.</a:t>
            </a:r>
          </a:p>
          <a:p>
            <a:pPr indent="-457200"/>
            <a:r>
              <a:rPr lang="en-US" sz="1800" dirty="0">
                <a:latin typeface="Times New Roman" panose="02020603050405020304" pitchFamily="18" charset="0"/>
                <a:cs typeface="Times New Roman" panose="02020603050405020304" pitchFamily="18" charset="0"/>
              </a:rPr>
              <a:t>Cost Constraints: Existing solutions are expensive for small clubs or academies.</a:t>
            </a:r>
          </a:p>
          <a:p>
            <a:pPr indent="-457200"/>
            <a:r>
              <a:rPr lang="en-US" sz="1800" dirty="0">
                <a:latin typeface="Times New Roman" panose="02020603050405020304" pitchFamily="18" charset="0"/>
                <a:cs typeface="Times New Roman" panose="02020603050405020304" pitchFamily="18" charset="0"/>
              </a:rPr>
              <a:t>Perspective Challenges: Lack of accurate measurement in real-world dimensions</a:t>
            </a:r>
          </a:p>
        </p:txBody>
      </p:sp>
      <p:sp>
        <p:nvSpPr>
          <p:cNvPr id="120" name="Google Shape;120;p17"/>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8</a:t>
            </a:fld>
            <a:endParaRPr/>
          </a:p>
        </p:txBody>
      </p:sp>
      <p:pic>
        <p:nvPicPr>
          <p:cNvPr id="2" name="Google Shape;111;p16"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9F3A42DC-C775-7522-0D62-32768CD55F72}"/>
              </a:ext>
            </a:extLst>
          </p:cNvPr>
          <p:cNvPicPr preferRelativeResize="0"/>
          <p:nvPr/>
        </p:nvPicPr>
        <p:blipFill rotWithShape="1">
          <a:blip r:embed="rId3">
            <a:alphaModFix/>
          </a:blip>
          <a:srcRect/>
          <a:stretch/>
        </p:blipFill>
        <p:spPr>
          <a:xfrm>
            <a:off x="100361" y="81534"/>
            <a:ext cx="1223518" cy="7233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18"/>
          <p:cNvSpPr txBox="1">
            <a:spLocks noGrp="1"/>
          </p:cNvSpPr>
          <p:nvPr>
            <p:ph type="title"/>
          </p:nvPr>
        </p:nvSpPr>
        <p:spPr>
          <a:xfrm>
            <a:off x="838200" y="150549"/>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Problem Statement</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26" name="Google Shape;126;p18"/>
          <p:cNvSpPr txBox="1">
            <a:spLocks noGrp="1"/>
          </p:cNvSpPr>
          <p:nvPr>
            <p:ph type="body" idx="1"/>
          </p:nvPr>
        </p:nvSpPr>
        <p:spPr>
          <a:xfrm>
            <a:off x="838200" y="1475550"/>
            <a:ext cx="10515600" cy="3906900"/>
          </a:xfrm>
          <a:prstGeom prst="rect">
            <a:avLst/>
          </a:prstGeom>
        </p:spPr>
        <p:txBody>
          <a:bodyPr spcFirstLastPara="1" wrap="square" lIns="91425" tIns="45700" rIns="91425" bIns="45700" anchor="t" anchorCtr="0">
            <a:noAutofit/>
          </a:bodyPr>
          <a:lstStyle/>
          <a:p>
            <a:pPr marL="139700" lvl="0" indent="0" algn="just" rtl="0">
              <a:lnSpc>
                <a:spcPct val="200000"/>
              </a:lnSpc>
              <a:spcBef>
                <a:spcPts val="0"/>
              </a:spcBef>
              <a:spcAft>
                <a:spcPts val="0"/>
              </a:spcAft>
              <a:buSzPts val="1400"/>
              <a:buNone/>
            </a:pPr>
            <a:r>
              <a:rPr lang="en-US" sz="1600" dirty="0">
                <a:latin typeface="Times New Roman" panose="02020603050405020304" pitchFamily="18" charset="0"/>
                <a:ea typeface="Montserrat"/>
                <a:cs typeface="Times New Roman" panose="02020603050405020304" pitchFamily="18" charset="0"/>
                <a:sym typeface="Montserrat"/>
              </a:rPr>
              <a:t>Football match analysis methods are often limited by manual processes, lack of automation, and insufficient AI-powered insights. Existing solutions either demand expensive tools or fail to provide comprehensive real-time analytics.</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Utilize YOLO for object detection to identify players, referees, and the ball.</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Apply K-means clustering for t-shirt color-based player assignment.</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Measure player movement with optical flow and perspective transformation in meters instead of pixels.</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Calculate speed, distance covered, and ball possession percentage for each team.</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Develop a cost-effective, automated, and scalable system for real-time football match analysis.</a:t>
            </a:r>
          </a:p>
        </p:txBody>
      </p:sp>
      <p:pic>
        <p:nvPicPr>
          <p:cNvPr id="127" name="Google Shape;127;p18"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28" name="Google Shape;128;p18"/>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9</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9"/>
          <p:cNvSpPr txBox="1">
            <a:spLocks noGrp="1"/>
          </p:cNvSpPr>
          <p:nvPr>
            <p:ph type="title"/>
          </p:nvPr>
        </p:nvSpPr>
        <p:spPr>
          <a:xfrm>
            <a:off x="838200" y="81745"/>
            <a:ext cx="10515600" cy="13173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Objective</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34" name="Google Shape;134;p19"/>
          <p:cNvSpPr txBox="1">
            <a:spLocks noGrp="1"/>
          </p:cNvSpPr>
          <p:nvPr>
            <p:ph type="body" idx="1"/>
          </p:nvPr>
        </p:nvSpPr>
        <p:spPr>
          <a:xfrm>
            <a:off x="838200" y="1399045"/>
            <a:ext cx="10515600" cy="3708600"/>
          </a:xfrm>
          <a:prstGeom prst="rect">
            <a:avLst/>
          </a:prstGeom>
        </p:spPr>
        <p:txBody>
          <a:bodyPr spcFirstLastPara="1" wrap="square" lIns="91425" tIns="45700" rIns="91425" bIns="45700" anchor="t" anchorCtr="0">
            <a:normAutofit/>
          </a:bodyPr>
          <a:lstStyle/>
          <a:p>
            <a:pPr marL="114300" indent="0">
              <a:buNone/>
            </a:pPr>
            <a:endParaRPr lang="en-US" sz="1800" b="1" dirty="0">
              <a:latin typeface="Times New Roman" panose="02020603050405020304" pitchFamily="18" charset="0"/>
              <a:cs typeface="Times New Roman" panose="02020603050405020304" pitchFamily="18" charset="0"/>
            </a:endParaRPr>
          </a:p>
          <a:p>
            <a:pPr>
              <a:buFont typeface="+mj-lt"/>
              <a:buAutoNum type="arabicPeriod"/>
            </a:pPr>
            <a:r>
              <a:rPr lang="en-US" sz="1800" b="1" dirty="0">
                <a:latin typeface="Times New Roman" panose="02020603050405020304" pitchFamily="18" charset="0"/>
                <a:cs typeface="Times New Roman" panose="02020603050405020304" pitchFamily="18" charset="0"/>
              </a:rPr>
              <a:t>Automated Object Detection:</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Develop an AI-powered system using YOLO to detect and track players, referees, and the football in match footage.</a:t>
            </a:r>
          </a:p>
          <a:p>
            <a:pPr>
              <a:buFont typeface="+mj-lt"/>
              <a:buAutoNum type="arabicPeriod"/>
            </a:pPr>
            <a:r>
              <a:rPr lang="en-US" sz="1800" b="1" dirty="0">
                <a:latin typeface="Times New Roman" panose="02020603050405020304" pitchFamily="18" charset="0"/>
                <a:cs typeface="Times New Roman" panose="02020603050405020304" pitchFamily="18" charset="0"/>
              </a:rPr>
              <a:t>Team Classification:</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Implement K-means clustering to assign players to teams based on t-shirt color pixel segmentation.</a:t>
            </a:r>
          </a:p>
          <a:p>
            <a:pPr>
              <a:buFont typeface="+mj-lt"/>
              <a:buAutoNum type="arabicPeriod"/>
            </a:pPr>
            <a:r>
              <a:rPr lang="en-US" sz="1800" b="1" dirty="0">
                <a:latin typeface="Times New Roman" panose="02020603050405020304" pitchFamily="18" charset="0"/>
                <a:cs typeface="Times New Roman" panose="02020603050405020304" pitchFamily="18" charset="0"/>
              </a:rPr>
              <a:t>Performance Analytics:</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Calculate key metrics such as ball possession percentage, player speed, and distance covered using optical flow and perspective transformation.</a:t>
            </a:r>
          </a:p>
          <a:p>
            <a:pPr>
              <a:buFont typeface="+mj-lt"/>
              <a:buAutoNum type="arabicPeriod"/>
            </a:pPr>
            <a:r>
              <a:rPr lang="en-US" sz="1800" b="1" dirty="0">
                <a:latin typeface="Times New Roman" panose="02020603050405020304" pitchFamily="18" charset="0"/>
                <a:cs typeface="Times New Roman" panose="02020603050405020304" pitchFamily="18" charset="0"/>
              </a:rPr>
              <a:t>Real-world Movement Analysis:</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Accurately measure player movements in meters instead of pixels by leveraging perspective transformation techniques.</a:t>
            </a:r>
          </a:p>
        </p:txBody>
      </p:sp>
      <p:pic>
        <p:nvPicPr>
          <p:cNvPr id="135" name="Google Shape;135;p19"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36" name="Google Shape;136;p19"/>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10</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20"/>
          <p:cNvSpPr txBox="1">
            <a:spLocks noGrp="1"/>
          </p:cNvSpPr>
          <p:nvPr>
            <p:ph type="title"/>
          </p:nvPr>
        </p:nvSpPr>
        <p:spPr>
          <a:xfrm>
            <a:off x="838200" y="-11529"/>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Scope</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42" name="Google Shape;142;p20"/>
          <p:cNvSpPr txBox="1">
            <a:spLocks noGrp="1"/>
          </p:cNvSpPr>
          <p:nvPr>
            <p:ph type="body" idx="1"/>
          </p:nvPr>
        </p:nvSpPr>
        <p:spPr>
          <a:xfrm>
            <a:off x="738450" y="1407445"/>
            <a:ext cx="10715100" cy="4699800"/>
          </a:xfrm>
          <a:prstGeom prst="rect">
            <a:avLst/>
          </a:prstGeom>
        </p:spPr>
        <p:txBody>
          <a:bodyPr spcFirstLastPara="1" wrap="square" lIns="91425" tIns="45700" rIns="91425" bIns="45700" anchor="t" anchorCtr="0">
            <a:noAutofit/>
          </a:bodyPr>
          <a:lstStyle/>
          <a:p>
            <a:pPr marL="114300" indent="0">
              <a:buNone/>
            </a:pPr>
            <a:endParaRPr lang="en-US" sz="1600" dirty="0">
              <a:latin typeface="Times New Roman" panose="02020603050405020304" pitchFamily="18" charset="0"/>
              <a:cs typeface="Times New Roman" panose="02020603050405020304" pitchFamily="18" charset="0"/>
            </a:endParaRPr>
          </a:p>
          <a:p>
            <a:pPr>
              <a:buFont typeface="+mj-lt"/>
              <a:buAutoNum type="arabicPeriod"/>
            </a:pPr>
            <a:r>
              <a:rPr lang="en-US" sz="1600" b="1" dirty="0">
                <a:latin typeface="Times New Roman" panose="02020603050405020304" pitchFamily="18" charset="0"/>
                <a:cs typeface="Times New Roman" panose="02020603050405020304" pitchFamily="18" charset="0"/>
              </a:rPr>
              <a:t>Automated Player and Ball Detection: </a:t>
            </a:r>
            <a:r>
              <a:rPr lang="en-US" sz="1600" dirty="0">
                <a:latin typeface="Times New Roman" panose="02020603050405020304" pitchFamily="18" charset="0"/>
                <a:cs typeface="Times New Roman" panose="02020603050405020304" pitchFamily="18" charset="0"/>
              </a:rPr>
              <a:t>Utilize YOLO object detection to identify and track players, referees, and the football in real-time or recorded match footage.</a:t>
            </a:r>
          </a:p>
          <a:p>
            <a:pPr>
              <a:buFont typeface="+mj-lt"/>
              <a:buAutoNum type="arabicPeriod"/>
            </a:pPr>
            <a:r>
              <a:rPr lang="en-US" sz="1600" b="1" dirty="0">
                <a:latin typeface="Times New Roman" panose="02020603050405020304" pitchFamily="18" charset="0"/>
                <a:cs typeface="Times New Roman" panose="02020603050405020304" pitchFamily="18" charset="0"/>
              </a:rPr>
              <a:t>Team Classification and Analysis: </a:t>
            </a:r>
            <a:r>
              <a:rPr lang="en-US" sz="1600" dirty="0">
                <a:latin typeface="Times New Roman" panose="02020603050405020304" pitchFamily="18" charset="0"/>
                <a:cs typeface="Times New Roman" panose="02020603050405020304" pitchFamily="18" charset="0"/>
              </a:rPr>
              <a:t>Assign players to teams based on t-shirt color segmentation using </a:t>
            </a:r>
            <a:r>
              <a:rPr lang="en-US" sz="1600" dirty="0" err="1">
                <a:latin typeface="Times New Roman" panose="02020603050405020304" pitchFamily="18" charset="0"/>
                <a:cs typeface="Times New Roman" panose="02020603050405020304" pitchFamily="18" charset="0"/>
              </a:rPr>
              <a:t>Kmeans</a:t>
            </a:r>
            <a:r>
              <a:rPr lang="en-US" sz="1600" dirty="0">
                <a:latin typeface="Times New Roman" panose="02020603050405020304" pitchFamily="18" charset="0"/>
                <a:cs typeface="Times New Roman" panose="02020603050405020304" pitchFamily="18" charset="0"/>
              </a:rPr>
              <a:t> clustering.</a:t>
            </a:r>
          </a:p>
          <a:p>
            <a:pPr>
              <a:buFont typeface="+mj-lt"/>
              <a:buAutoNum type="arabicPeriod"/>
            </a:pPr>
            <a:r>
              <a:rPr lang="en-US" sz="1600" b="1" dirty="0">
                <a:latin typeface="Times New Roman" panose="02020603050405020304" pitchFamily="18" charset="0"/>
                <a:cs typeface="Times New Roman" panose="02020603050405020304" pitchFamily="18" charset="0"/>
              </a:rPr>
              <a:t>Performance Metrics Calculation: </a:t>
            </a:r>
            <a:r>
              <a:rPr lang="en-US" sz="1600" dirty="0">
                <a:latin typeface="Times New Roman" panose="02020603050405020304" pitchFamily="18" charset="0"/>
                <a:cs typeface="Times New Roman" panose="02020603050405020304" pitchFamily="18" charset="0"/>
              </a:rPr>
              <a:t>Measure key match statistics, including ball possession percentages, player movement speed, and distance covered.</a:t>
            </a:r>
          </a:p>
          <a:p>
            <a:pPr>
              <a:buFont typeface="+mj-lt"/>
              <a:buAutoNum type="arabicPeriod"/>
            </a:pPr>
            <a:r>
              <a:rPr lang="en-US" sz="1600" b="1" dirty="0">
                <a:latin typeface="Times New Roman" panose="02020603050405020304" pitchFamily="18" charset="0"/>
                <a:cs typeface="Times New Roman" panose="02020603050405020304" pitchFamily="18" charset="0"/>
              </a:rPr>
              <a:t>Camera Movement Compensation: </a:t>
            </a:r>
            <a:r>
              <a:rPr lang="en-US" sz="1600" dirty="0">
                <a:latin typeface="Times New Roman" panose="02020603050405020304" pitchFamily="18" charset="0"/>
                <a:cs typeface="Times New Roman" panose="02020603050405020304" pitchFamily="18" charset="0"/>
              </a:rPr>
              <a:t>Apply optical flow to handle dynamic camera movements, ensuring accurate tracking and analysis.</a:t>
            </a:r>
          </a:p>
          <a:p>
            <a:pPr>
              <a:buFont typeface="+mj-lt"/>
              <a:buAutoNum type="arabicPeriod"/>
            </a:pPr>
            <a:r>
              <a:rPr lang="en-US" sz="1600" b="1" dirty="0">
                <a:latin typeface="Times New Roman" panose="02020603050405020304" pitchFamily="18" charset="0"/>
                <a:cs typeface="Times New Roman" panose="02020603050405020304" pitchFamily="18" charset="0"/>
              </a:rPr>
              <a:t>Real-world Measurement Conversion: </a:t>
            </a:r>
            <a:r>
              <a:rPr lang="en-US" sz="1600" dirty="0">
                <a:latin typeface="Times New Roman" panose="02020603050405020304" pitchFamily="18" charset="0"/>
                <a:cs typeface="Times New Roman" panose="02020603050405020304" pitchFamily="18" charset="0"/>
              </a:rPr>
              <a:t>Implement perspective transformation to convert pixel-based measurements to real-world units (meters).</a:t>
            </a:r>
          </a:p>
          <a:p>
            <a:pPr>
              <a:buFont typeface="+mj-lt"/>
              <a:buAutoNum type="arabicPeriod"/>
            </a:pPr>
            <a:r>
              <a:rPr lang="en-US" sz="1600" b="1" dirty="0">
                <a:latin typeface="Times New Roman" panose="02020603050405020304" pitchFamily="18" charset="0"/>
                <a:cs typeface="Times New Roman" panose="02020603050405020304" pitchFamily="18" charset="0"/>
              </a:rPr>
              <a:t>Data Visualization and Insights: </a:t>
            </a:r>
            <a:r>
              <a:rPr lang="en-US" sz="1600" dirty="0">
                <a:latin typeface="Times New Roman" panose="02020603050405020304" pitchFamily="18" charset="0"/>
                <a:cs typeface="Times New Roman" panose="02020603050405020304" pitchFamily="18" charset="0"/>
              </a:rPr>
              <a:t>Provide interactive dashboards or visual representations to showcase player movements, team performance, and game statistics.</a:t>
            </a:r>
          </a:p>
          <a:p>
            <a:pPr>
              <a:buFont typeface="+mj-lt"/>
              <a:buAutoNum type="arabicPeriod"/>
            </a:pPr>
            <a:r>
              <a:rPr lang="en-US" sz="1600" b="1" dirty="0">
                <a:latin typeface="Times New Roman" panose="02020603050405020304" pitchFamily="18" charset="0"/>
                <a:cs typeface="Times New Roman" panose="02020603050405020304" pitchFamily="18" charset="0"/>
              </a:rPr>
              <a:t>Cost-effective Solution: </a:t>
            </a:r>
            <a:r>
              <a:rPr lang="en-US" sz="1600" dirty="0">
                <a:latin typeface="Times New Roman" panose="02020603050405020304" pitchFamily="18" charset="0"/>
                <a:cs typeface="Times New Roman" panose="02020603050405020304" pitchFamily="18" charset="0"/>
              </a:rPr>
              <a:t>Develop a scalable and automated platform suitable for small clubs, academies, and professional teams seeking comprehensive analytics without high expenses.</a:t>
            </a:r>
          </a:p>
        </p:txBody>
      </p:sp>
      <p:pic>
        <p:nvPicPr>
          <p:cNvPr id="143" name="Google Shape;143;p20"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44" name="Google Shape;144;p20"/>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11</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21"/>
          <p:cNvSpPr txBox="1">
            <a:spLocks noGrp="1"/>
          </p:cNvSpPr>
          <p:nvPr>
            <p:ph type="title"/>
          </p:nvPr>
        </p:nvSpPr>
        <p:spPr>
          <a:xfrm>
            <a:off x="1520880" y="35008"/>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Software Development Life Cycle : Agile Model</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51" name="Google Shape;151;p21"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52" name="Google Shape;152;p21"/>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12</a:t>
            </a:fld>
            <a:endParaRPr/>
          </a:p>
        </p:txBody>
      </p:sp>
      <p:sp>
        <p:nvSpPr>
          <p:cNvPr id="4" name="Rectangle 1">
            <a:extLst>
              <a:ext uri="{FF2B5EF4-FFF2-40B4-BE49-F238E27FC236}">
                <a16:creationId xmlns:a16="http://schemas.microsoft.com/office/drawing/2014/main" id="{5C61D09B-B3C8-941D-6066-C1B23316F675}"/>
              </a:ext>
            </a:extLst>
          </p:cNvPr>
          <p:cNvSpPr>
            <a:spLocks noChangeArrowheads="1"/>
          </p:cNvSpPr>
          <p:nvPr/>
        </p:nvSpPr>
        <p:spPr bwMode="auto">
          <a:xfrm>
            <a:off x="155521" y="3251483"/>
            <a:ext cx="1136592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TextBox 4">
            <a:extLst>
              <a:ext uri="{FF2B5EF4-FFF2-40B4-BE49-F238E27FC236}">
                <a16:creationId xmlns:a16="http://schemas.microsoft.com/office/drawing/2014/main" id="{1DD4A39F-DB00-BD29-6952-B924C4E1CF45}"/>
              </a:ext>
            </a:extLst>
          </p:cNvPr>
          <p:cNvSpPr txBox="1"/>
          <p:nvPr/>
        </p:nvSpPr>
        <p:spPr>
          <a:xfrm>
            <a:off x="256032" y="1473469"/>
            <a:ext cx="11530584" cy="5016758"/>
          </a:xfrm>
          <a:prstGeom prst="rect">
            <a:avLst/>
          </a:prstGeom>
          <a:noFill/>
        </p:spPr>
        <p:txBody>
          <a:bodyPr wrap="square" rtlCol="0">
            <a:spAutoFit/>
          </a:bodyPr>
          <a:lstStyle/>
          <a:p>
            <a:r>
              <a:rPr lang="en-US" sz="1600" b="1" dirty="0">
                <a:latin typeface="Times New Roman" panose="02020603050405020304" pitchFamily="18" charset="0"/>
                <a:cs typeface="Times New Roman" panose="02020603050405020304" pitchFamily="18" charset="0"/>
              </a:rPr>
              <a:t>Why Agile SDLC?</a:t>
            </a:r>
          </a:p>
          <a:p>
            <a:pPr>
              <a:buFont typeface="+mj-lt"/>
              <a:buAutoNum type="arabicPeriod"/>
            </a:pPr>
            <a:r>
              <a:rPr lang="en-US" sz="1600" b="1" dirty="0">
                <a:latin typeface="Times New Roman" panose="02020603050405020304" pitchFamily="18" charset="0"/>
                <a:cs typeface="Times New Roman" panose="02020603050405020304" pitchFamily="18" charset="0"/>
              </a:rPr>
              <a:t>Iterative Development:</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Agile allows continuous improvements and iterative development. This is essential for AI-powered projects like football analysis, where algorithms (like YOLO models) require frequent tuning and optimization.</a:t>
            </a:r>
          </a:p>
          <a:p>
            <a:pPr>
              <a:buFont typeface="+mj-lt"/>
              <a:buAutoNum type="arabicPeriod"/>
            </a:pPr>
            <a:r>
              <a:rPr lang="en-US" sz="1600" b="1" dirty="0">
                <a:latin typeface="Times New Roman" panose="02020603050405020304" pitchFamily="18" charset="0"/>
                <a:cs typeface="Times New Roman" panose="02020603050405020304" pitchFamily="18" charset="0"/>
              </a:rPr>
              <a:t>Flexibility:</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Requirements for video processing, player detection, and feature enhancements might change during the development process. Agile accommodates changing requirements efficiently.</a:t>
            </a:r>
          </a:p>
          <a:p>
            <a:pPr>
              <a:buFont typeface="+mj-lt"/>
              <a:buAutoNum type="arabicPeriod"/>
            </a:pPr>
            <a:r>
              <a:rPr lang="en-US" sz="1600" b="1" dirty="0">
                <a:latin typeface="Times New Roman" panose="02020603050405020304" pitchFamily="18" charset="0"/>
                <a:cs typeface="Times New Roman" panose="02020603050405020304" pitchFamily="18" charset="0"/>
              </a:rPr>
              <a:t>Frequent Deliverables:</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With regular sprints, key features such as player detection, ball tracking, and speed measurement can be delivered in increments.</a:t>
            </a:r>
          </a:p>
          <a:p>
            <a:pPr>
              <a:buFont typeface="+mj-lt"/>
              <a:buAutoNum type="arabicPeriod"/>
            </a:pPr>
            <a:r>
              <a:rPr lang="en-US" sz="1600" b="1" dirty="0">
                <a:latin typeface="Times New Roman" panose="02020603050405020304" pitchFamily="18" charset="0"/>
                <a:cs typeface="Times New Roman" panose="02020603050405020304" pitchFamily="18" charset="0"/>
              </a:rPr>
              <a:t>Collaboration and Feedback:</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Agile encourages close collaboration between developers, analysts, and stakeholders, ensuring the product aligns with user expectations.</a:t>
            </a:r>
          </a:p>
          <a:p>
            <a:pPr>
              <a:buFont typeface="+mj-lt"/>
              <a:buAutoNum type="arabicPeriod"/>
            </a:pPr>
            <a:r>
              <a:rPr lang="en-US" sz="1600" b="1" dirty="0">
                <a:latin typeface="Times New Roman" panose="02020603050405020304" pitchFamily="18" charset="0"/>
                <a:cs typeface="Times New Roman" panose="02020603050405020304" pitchFamily="18" charset="0"/>
              </a:rPr>
              <a:t>Testing and Validation:</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Agile integrates continuous testing, helping to maintain accuracy and improve detection performance throughout the project lifecycle.</a:t>
            </a:r>
          </a:p>
          <a:p>
            <a:r>
              <a:rPr lang="en-US" sz="1600" b="1" dirty="0">
                <a:latin typeface="Times New Roman" panose="02020603050405020304" pitchFamily="18" charset="0"/>
                <a:cs typeface="Times New Roman" panose="02020603050405020304" pitchFamily="18" charset="0"/>
              </a:rPr>
              <a:t>Implementation Plan Using Agile</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1:</a:t>
            </a:r>
            <a:r>
              <a:rPr lang="en-US" sz="1600" dirty="0">
                <a:latin typeface="Times New Roman" panose="02020603050405020304" pitchFamily="18" charset="0"/>
                <a:cs typeface="Times New Roman" panose="02020603050405020304" pitchFamily="18" charset="0"/>
              </a:rPr>
              <a:t> Set up development environment, install necessary libraries, and implement YOLO for basic player detection.</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2:</a:t>
            </a:r>
            <a:r>
              <a:rPr lang="en-US" sz="1600" dirty="0">
                <a:latin typeface="Times New Roman" panose="02020603050405020304" pitchFamily="18" charset="0"/>
                <a:cs typeface="Times New Roman" panose="02020603050405020304" pitchFamily="18" charset="0"/>
              </a:rPr>
              <a:t> Implement K-Means for team classification and integrate video processing pipelines.</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3:</a:t>
            </a:r>
            <a:r>
              <a:rPr lang="en-US" sz="1600" dirty="0">
                <a:latin typeface="Times New Roman" panose="02020603050405020304" pitchFamily="18" charset="0"/>
                <a:cs typeface="Times New Roman" panose="02020603050405020304" pitchFamily="18" charset="0"/>
              </a:rPr>
              <a:t> Develop optical flow and perspective transformation modules.</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4:</a:t>
            </a:r>
            <a:r>
              <a:rPr lang="en-US" sz="1600" dirty="0">
                <a:latin typeface="Times New Roman" panose="02020603050405020304" pitchFamily="18" charset="0"/>
                <a:cs typeface="Times New Roman" panose="02020603050405020304" pitchFamily="18" charset="0"/>
              </a:rPr>
              <a:t> Test performance and calculate movement metrics like speed and distance.</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5:</a:t>
            </a:r>
            <a:r>
              <a:rPr lang="en-US" sz="1600" dirty="0">
                <a:latin typeface="Times New Roman" panose="02020603050405020304" pitchFamily="18" charset="0"/>
                <a:cs typeface="Times New Roman" panose="02020603050405020304" pitchFamily="18" charset="0"/>
              </a:rPr>
              <a:t> Final integration, bug fixes, and presentation deployment.</a:t>
            </a:r>
          </a:p>
          <a:p>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E6876CFB-32B3-521B-E376-23A4CB9CBCFA}"/>
            </a:ext>
          </a:extLst>
        </p:cNvPr>
        <p:cNvGrpSpPr/>
        <p:nvPr/>
      </p:nvGrpSpPr>
      <p:grpSpPr>
        <a:xfrm>
          <a:off x="0" y="0"/>
          <a:ext cx="0" cy="0"/>
          <a:chOff x="0" y="0"/>
          <a:chExt cx="0" cy="0"/>
        </a:xfrm>
      </p:grpSpPr>
      <p:sp>
        <p:nvSpPr>
          <p:cNvPr id="149" name="Google Shape;149;p21">
            <a:extLst>
              <a:ext uri="{FF2B5EF4-FFF2-40B4-BE49-F238E27FC236}">
                <a16:creationId xmlns:a16="http://schemas.microsoft.com/office/drawing/2014/main" id="{ED7A075B-A162-BF71-8B6D-9E603A6FA860}"/>
              </a:ext>
            </a:extLst>
          </p:cNvPr>
          <p:cNvSpPr txBox="1">
            <a:spLocks noGrp="1"/>
          </p:cNvSpPr>
          <p:nvPr>
            <p:ph type="title"/>
          </p:nvPr>
        </p:nvSpPr>
        <p:spPr>
          <a:xfrm>
            <a:off x="838200" y="81745"/>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Functional Requirements</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51" name="Google Shape;151;p21"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F00703FE-2319-8BA3-0E09-CCE2DBCEB546}"/>
              </a:ext>
            </a:extLst>
          </p:cNvPr>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52" name="Google Shape;152;p21">
            <a:extLst>
              <a:ext uri="{FF2B5EF4-FFF2-40B4-BE49-F238E27FC236}">
                <a16:creationId xmlns:a16="http://schemas.microsoft.com/office/drawing/2014/main" id="{C963D996-687A-25FA-E8D3-576CDFA0E0F8}"/>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13</a:t>
            </a:fld>
            <a:endParaRPr/>
          </a:p>
        </p:txBody>
      </p:sp>
      <p:graphicFrame>
        <p:nvGraphicFramePr>
          <p:cNvPr id="3" name="Table 2">
            <a:extLst>
              <a:ext uri="{FF2B5EF4-FFF2-40B4-BE49-F238E27FC236}">
                <a16:creationId xmlns:a16="http://schemas.microsoft.com/office/drawing/2014/main" id="{59D275AE-4D11-8DCF-95FC-D8E47A611CEA}"/>
              </a:ext>
            </a:extLst>
          </p:cNvPr>
          <p:cNvGraphicFramePr>
            <a:graphicFrameLocks noGrp="1"/>
          </p:cNvGraphicFramePr>
          <p:nvPr/>
        </p:nvGraphicFramePr>
        <p:xfrm>
          <a:off x="155520" y="1261872"/>
          <a:ext cx="11804832" cy="5296810"/>
        </p:xfrm>
        <a:graphic>
          <a:graphicData uri="http://schemas.openxmlformats.org/drawingml/2006/table">
            <a:tbl>
              <a:tblPr/>
              <a:tblGrid>
                <a:gridCol w="3934944">
                  <a:extLst>
                    <a:ext uri="{9D8B030D-6E8A-4147-A177-3AD203B41FA5}">
                      <a16:colId xmlns:a16="http://schemas.microsoft.com/office/drawing/2014/main" val="2681133371"/>
                    </a:ext>
                  </a:extLst>
                </a:gridCol>
                <a:gridCol w="3934944">
                  <a:extLst>
                    <a:ext uri="{9D8B030D-6E8A-4147-A177-3AD203B41FA5}">
                      <a16:colId xmlns:a16="http://schemas.microsoft.com/office/drawing/2014/main" val="1451802137"/>
                    </a:ext>
                  </a:extLst>
                </a:gridCol>
                <a:gridCol w="3934944">
                  <a:extLst>
                    <a:ext uri="{9D8B030D-6E8A-4147-A177-3AD203B41FA5}">
                      <a16:colId xmlns:a16="http://schemas.microsoft.com/office/drawing/2014/main" val="3265006935"/>
                    </a:ext>
                  </a:extLst>
                </a:gridCol>
              </a:tblGrid>
              <a:tr h="238061">
                <a:tc>
                  <a:txBody>
                    <a:bodyPr/>
                    <a:lstStyle/>
                    <a:p>
                      <a:r>
                        <a:rPr lang="en-US" sz="1400" b="1">
                          <a:latin typeface="Times New Roman" panose="02020603050405020304" pitchFamily="18" charset="0"/>
                          <a:cs typeface="Times New Roman" panose="02020603050405020304" pitchFamily="18" charset="0"/>
                        </a:rPr>
                        <a:t>Category</a:t>
                      </a:r>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b="1">
                          <a:latin typeface="Times New Roman" panose="02020603050405020304" pitchFamily="18" charset="0"/>
                          <a:cs typeface="Times New Roman" panose="02020603050405020304" pitchFamily="18" charset="0"/>
                        </a:rPr>
                        <a:t>Requirement Type</a:t>
                      </a:r>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b="1">
                          <a:latin typeface="Times New Roman" panose="02020603050405020304" pitchFamily="18" charset="0"/>
                          <a:cs typeface="Times New Roman" panose="02020603050405020304" pitchFamily="18" charset="0"/>
                        </a:rPr>
                        <a:t>Description</a:t>
                      </a:r>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extLst>
                  <a:ext uri="{0D108BD9-81ED-4DB2-BD59-A6C34878D82A}">
                    <a16:rowId xmlns:a16="http://schemas.microsoft.com/office/drawing/2014/main" val="432277425"/>
                  </a:ext>
                </a:extLst>
              </a:tr>
              <a:tr h="404701">
                <a:tc>
                  <a:txBody>
                    <a:bodyPr/>
                    <a:lstStyle/>
                    <a:p>
                      <a:r>
                        <a:rPr lang="en-US" sz="1400" b="1" dirty="0">
                          <a:latin typeface="Times New Roman" panose="02020603050405020304" pitchFamily="18" charset="0"/>
                          <a:cs typeface="Times New Roman" panose="02020603050405020304" pitchFamily="18" charset="0"/>
                        </a:rPr>
                        <a:t>Functional</a:t>
                      </a:r>
                      <a:endParaRPr lang="en-US" sz="1400" dirty="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dirty="0">
                          <a:latin typeface="Times New Roman" panose="02020603050405020304" pitchFamily="18" charset="0"/>
                          <a:cs typeface="Times New Roman" panose="02020603050405020304" pitchFamily="18" charset="0"/>
                        </a:rPr>
                        <a:t>Detection &amp; Tracking</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Detect and track players, referees, and football.</a:t>
                      </a:r>
                    </a:p>
                  </a:txBody>
                  <a:tcPr marL="61000" marR="61000" marT="30500" marB="30500" anchor="ctr">
                    <a:lnL>
                      <a:noFill/>
                    </a:lnL>
                    <a:lnR>
                      <a:noFill/>
                    </a:lnR>
                    <a:lnT>
                      <a:noFill/>
                    </a:lnT>
                    <a:lnB>
                      <a:noFill/>
                    </a:lnB>
                    <a:noFill/>
                  </a:tcPr>
                </a:tc>
                <a:extLst>
                  <a:ext uri="{0D108BD9-81ED-4DB2-BD59-A6C34878D82A}">
                    <a16:rowId xmlns:a16="http://schemas.microsoft.com/office/drawing/2014/main" val="2979377610"/>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Team Classification</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Assign players to teams using color segmentation.</a:t>
                      </a:r>
                    </a:p>
                  </a:txBody>
                  <a:tcPr marL="61000" marR="61000" marT="30500" marB="30500" anchor="ctr">
                    <a:lnL>
                      <a:noFill/>
                    </a:lnL>
                    <a:lnR>
                      <a:noFill/>
                    </a:lnR>
                    <a:lnT>
                      <a:noFill/>
                    </a:lnT>
                    <a:lnB>
                      <a:noFill/>
                    </a:lnB>
                    <a:noFill/>
                  </a:tcPr>
                </a:tc>
                <a:extLst>
                  <a:ext uri="{0D108BD9-81ED-4DB2-BD59-A6C34878D82A}">
                    <a16:rowId xmlns:a16="http://schemas.microsoft.com/office/drawing/2014/main" val="741524562"/>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Performance Analysis</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Calculate ball possession, speed, and distances.</a:t>
                      </a:r>
                    </a:p>
                  </a:txBody>
                  <a:tcPr marL="61000" marR="61000" marT="30500" marB="30500" anchor="ctr">
                    <a:lnL>
                      <a:noFill/>
                    </a:lnL>
                    <a:lnR>
                      <a:noFill/>
                    </a:lnR>
                    <a:lnT>
                      <a:noFill/>
                    </a:lnT>
                    <a:lnB>
                      <a:noFill/>
                    </a:lnB>
                    <a:noFill/>
                  </a:tcPr>
                </a:tc>
                <a:extLst>
                  <a:ext uri="{0D108BD9-81ED-4DB2-BD59-A6C34878D82A}">
                    <a16:rowId xmlns:a16="http://schemas.microsoft.com/office/drawing/2014/main" val="4075477504"/>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dirty="0">
                          <a:latin typeface="Times New Roman" panose="02020603050405020304" pitchFamily="18" charset="0"/>
                          <a:cs typeface="Times New Roman" panose="02020603050405020304" pitchFamily="18" charset="0"/>
                        </a:rPr>
                        <a:t>Camera Handling</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Compensate for camera movements using optical flow.</a:t>
                      </a:r>
                    </a:p>
                  </a:txBody>
                  <a:tcPr marL="61000" marR="61000" marT="30500" marB="30500" anchor="ctr">
                    <a:lnL>
                      <a:noFill/>
                    </a:lnL>
                    <a:lnR>
                      <a:noFill/>
                    </a:lnR>
                    <a:lnT>
                      <a:noFill/>
                    </a:lnT>
                    <a:lnB>
                      <a:noFill/>
                    </a:lnB>
                    <a:noFill/>
                  </a:tcPr>
                </a:tc>
                <a:extLst>
                  <a:ext uri="{0D108BD9-81ED-4DB2-BD59-A6C34878D82A}">
                    <a16:rowId xmlns:a16="http://schemas.microsoft.com/office/drawing/2014/main" val="3206322215"/>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Real-world Conversion</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Measure player movement in meters via transformation</a:t>
                      </a:r>
                    </a:p>
                  </a:txBody>
                  <a:tcPr marL="61000" marR="61000" marT="30500" marB="30500" anchor="ctr">
                    <a:lnL>
                      <a:noFill/>
                    </a:lnL>
                    <a:lnR>
                      <a:noFill/>
                    </a:lnR>
                    <a:lnT>
                      <a:noFill/>
                    </a:lnT>
                    <a:lnB>
                      <a:noFill/>
                    </a:lnB>
                    <a:noFill/>
                  </a:tcPr>
                </a:tc>
                <a:extLst>
                  <a:ext uri="{0D108BD9-81ED-4DB2-BD59-A6C34878D82A}">
                    <a16:rowId xmlns:a16="http://schemas.microsoft.com/office/drawing/2014/main" val="279403498"/>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Visualization</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Display interactive dashboards and match insights.</a:t>
                      </a:r>
                    </a:p>
                  </a:txBody>
                  <a:tcPr marL="61000" marR="61000" marT="30500" marB="30500" anchor="ctr">
                    <a:lnL>
                      <a:noFill/>
                    </a:lnL>
                    <a:lnR>
                      <a:noFill/>
                    </a:lnR>
                    <a:lnT>
                      <a:noFill/>
                    </a:lnT>
                    <a:lnB>
                      <a:noFill/>
                    </a:lnB>
                    <a:noFill/>
                  </a:tcPr>
                </a:tc>
                <a:extLst>
                  <a:ext uri="{0D108BD9-81ED-4DB2-BD59-A6C34878D82A}">
                    <a16:rowId xmlns:a16="http://schemas.microsoft.com/office/drawing/2014/main" val="3182192646"/>
                  </a:ext>
                </a:extLst>
              </a:tr>
              <a:tr h="404701">
                <a:tc>
                  <a:txBody>
                    <a:bodyPr/>
                    <a:lstStyle/>
                    <a:p>
                      <a:r>
                        <a:rPr lang="en-US" sz="1400" b="1">
                          <a:latin typeface="Times New Roman" panose="02020603050405020304" pitchFamily="18" charset="0"/>
                          <a:cs typeface="Times New Roman" panose="02020603050405020304" pitchFamily="18" charset="0"/>
                        </a:rPr>
                        <a:t>Non-Functional</a:t>
                      </a:r>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Accuracy</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High detection precision for real-time analysis.</a:t>
                      </a:r>
                    </a:p>
                  </a:txBody>
                  <a:tcPr marL="61000" marR="61000" marT="30500" marB="30500" anchor="ctr">
                    <a:lnL>
                      <a:noFill/>
                    </a:lnL>
                    <a:lnR>
                      <a:noFill/>
                    </a:lnR>
                    <a:lnT>
                      <a:noFill/>
                    </a:lnT>
                    <a:lnB>
                      <a:noFill/>
                    </a:lnB>
                    <a:noFill/>
                  </a:tcPr>
                </a:tc>
                <a:extLst>
                  <a:ext uri="{0D108BD9-81ED-4DB2-BD59-A6C34878D82A}">
                    <a16:rowId xmlns:a16="http://schemas.microsoft.com/office/drawing/2014/main" val="369994239"/>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Performance</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System should handle video frames without lag.</a:t>
                      </a:r>
                    </a:p>
                  </a:txBody>
                  <a:tcPr marL="61000" marR="61000" marT="30500" marB="30500" anchor="ctr">
                    <a:lnL>
                      <a:noFill/>
                    </a:lnL>
                    <a:lnR>
                      <a:noFill/>
                    </a:lnR>
                    <a:lnT>
                      <a:noFill/>
                    </a:lnT>
                    <a:lnB>
                      <a:noFill/>
                    </a:lnB>
                    <a:noFill/>
                  </a:tcPr>
                </a:tc>
                <a:extLst>
                  <a:ext uri="{0D108BD9-81ED-4DB2-BD59-A6C34878D82A}">
                    <a16:rowId xmlns:a16="http://schemas.microsoft.com/office/drawing/2014/main" val="2488613030"/>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Scalability</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Support multiple matches and larger datasets.</a:t>
                      </a:r>
                    </a:p>
                  </a:txBody>
                  <a:tcPr marL="61000" marR="61000" marT="30500" marB="30500" anchor="ctr">
                    <a:lnL>
                      <a:noFill/>
                    </a:lnL>
                    <a:lnR>
                      <a:noFill/>
                    </a:lnR>
                    <a:lnT>
                      <a:noFill/>
                    </a:lnT>
                    <a:lnB>
                      <a:noFill/>
                    </a:lnB>
                    <a:noFill/>
                  </a:tcPr>
                </a:tc>
                <a:extLst>
                  <a:ext uri="{0D108BD9-81ED-4DB2-BD59-A6C34878D82A}">
                    <a16:rowId xmlns:a16="http://schemas.microsoft.com/office/drawing/2014/main" val="1831528027"/>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Maintainability</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Modular code for easy updates and enhancements.</a:t>
                      </a:r>
                    </a:p>
                  </a:txBody>
                  <a:tcPr marL="61000" marR="61000" marT="30500" marB="30500" anchor="ctr">
                    <a:lnL>
                      <a:noFill/>
                    </a:lnL>
                    <a:lnR>
                      <a:noFill/>
                    </a:lnR>
                    <a:lnT>
                      <a:noFill/>
                    </a:lnT>
                    <a:lnB>
                      <a:noFill/>
                    </a:lnB>
                    <a:noFill/>
                  </a:tcPr>
                </a:tc>
                <a:extLst>
                  <a:ext uri="{0D108BD9-81ED-4DB2-BD59-A6C34878D82A}">
                    <a16:rowId xmlns:a16="http://schemas.microsoft.com/office/drawing/2014/main" val="3505377160"/>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Usability</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User-friendly interface for non-technical users.</a:t>
                      </a:r>
                    </a:p>
                  </a:txBody>
                  <a:tcPr marL="61000" marR="61000" marT="30500" marB="30500" anchor="ctr">
                    <a:lnL>
                      <a:noFill/>
                    </a:lnL>
                    <a:lnR>
                      <a:noFill/>
                    </a:lnR>
                    <a:lnT>
                      <a:noFill/>
                    </a:lnT>
                    <a:lnB>
                      <a:noFill/>
                    </a:lnB>
                    <a:noFill/>
                  </a:tcPr>
                </a:tc>
                <a:extLst>
                  <a:ext uri="{0D108BD9-81ED-4DB2-BD59-A6C34878D82A}">
                    <a16:rowId xmlns:a16="http://schemas.microsoft.com/office/drawing/2014/main" val="3085602779"/>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Security</a:t>
                      </a:r>
                    </a:p>
                  </a:txBody>
                  <a:tcPr marL="61000" marR="61000" marT="30500" marB="30500" anchor="ctr">
                    <a:lnL>
                      <a:noFill/>
                    </a:lnL>
                    <a:lnR>
                      <a:noFill/>
                    </a:lnR>
                    <a:lnT>
                      <a:noFill/>
                    </a:lnT>
                    <a:lnB>
                      <a:noFill/>
                    </a:lnB>
                    <a:noFill/>
                  </a:tcPr>
                </a:tc>
                <a:tc>
                  <a:txBody>
                    <a:bodyPr/>
                    <a:lstStyle/>
                    <a:p>
                      <a:r>
                        <a:rPr lang="en-US" sz="1400" dirty="0">
                          <a:latin typeface="Times New Roman" panose="02020603050405020304" pitchFamily="18" charset="0"/>
                          <a:cs typeface="Times New Roman" panose="02020603050405020304" pitchFamily="18" charset="0"/>
                        </a:rPr>
                        <a:t>Secure data handling and user access controls.</a:t>
                      </a:r>
                    </a:p>
                  </a:txBody>
                  <a:tcPr marL="61000" marR="61000" marT="30500" marB="30500" anchor="ctr">
                    <a:lnL>
                      <a:noFill/>
                    </a:lnL>
                    <a:lnR>
                      <a:noFill/>
                    </a:lnR>
                    <a:lnT>
                      <a:noFill/>
                    </a:lnT>
                    <a:lnB>
                      <a:noFill/>
                    </a:lnB>
                    <a:noFill/>
                  </a:tcPr>
                </a:tc>
                <a:extLst>
                  <a:ext uri="{0D108BD9-81ED-4DB2-BD59-A6C34878D82A}">
                    <a16:rowId xmlns:a16="http://schemas.microsoft.com/office/drawing/2014/main" val="1588828680"/>
                  </a:ext>
                </a:extLst>
              </a:tr>
            </a:tbl>
          </a:graphicData>
        </a:graphic>
      </p:graphicFrame>
      <p:sp>
        <p:nvSpPr>
          <p:cNvPr id="4" name="Rectangle 1">
            <a:extLst>
              <a:ext uri="{FF2B5EF4-FFF2-40B4-BE49-F238E27FC236}">
                <a16:creationId xmlns:a16="http://schemas.microsoft.com/office/drawing/2014/main" id="{194434A8-0772-5653-E9A9-A87E0D161291}"/>
              </a:ext>
            </a:extLst>
          </p:cNvPr>
          <p:cNvSpPr>
            <a:spLocks noChangeArrowheads="1"/>
          </p:cNvSpPr>
          <p:nvPr/>
        </p:nvSpPr>
        <p:spPr bwMode="auto">
          <a:xfrm>
            <a:off x="2589213" y="3698085"/>
            <a:ext cx="21993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491606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22"/>
          <p:cNvSpPr txBox="1">
            <a:spLocks noGrp="1"/>
          </p:cNvSpPr>
          <p:nvPr>
            <p:ph type="title"/>
          </p:nvPr>
        </p:nvSpPr>
        <p:spPr>
          <a:xfrm>
            <a:off x="838200" y="256250"/>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Proposed Architecture</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59" name="Google Shape;159;p22"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60" name="Google Shape;160;p2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14</a:t>
            </a:fld>
            <a:endParaRPr/>
          </a:p>
        </p:txBody>
      </p:sp>
      <p:pic>
        <p:nvPicPr>
          <p:cNvPr id="4" name="Picture 3">
            <a:extLst>
              <a:ext uri="{FF2B5EF4-FFF2-40B4-BE49-F238E27FC236}">
                <a16:creationId xmlns:a16="http://schemas.microsoft.com/office/drawing/2014/main" id="{77657125-0B05-B334-B8F5-D6AC2C6B4145}"/>
              </a:ext>
            </a:extLst>
          </p:cNvPr>
          <p:cNvPicPr>
            <a:picLocks noChangeAspect="1"/>
          </p:cNvPicPr>
          <p:nvPr/>
        </p:nvPicPr>
        <p:blipFill>
          <a:blip r:embed="rId4"/>
          <a:stretch>
            <a:fillRect/>
          </a:stretch>
        </p:blipFill>
        <p:spPr>
          <a:xfrm>
            <a:off x="148929" y="2679546"/>
            <a:ext cx="11894141" cy="13257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23"/>
          <p:cNvSpPr txBox="1">
            <a:spLocks noGrp="1"/>
          </p:cNvSpPr>
          <p:nvPr>
            <p:ph type="title"/>
          </p:nvPr>
        </p:nvSpPr>
        <p:spPr>
          <a:xfrm>
            <a:off x="838200" y="256250"/>
            <a:ext cx="10515600" cy="1325700"/>
          </a:xfrm>
          <a:prstGeom prst="rect">
            <a:avLst/>
          </a:prstGeom>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chemeClr val="dk1"/>
              </a:buClr>
              <a:buSzPts val="1100"/>
              <a:buFont typeface="Arial"/>
              <a:buNone/>
            </a:pPr>
            <a:r>
              <a:rPr lang="en-US" sz="3600" b="1" dirty="0">
                <a:latin typeface="Times New Roman" panose="02020603050405020304" pitchFamily="18" charset="0"/>
                <a:ea typeface="Nunito"/>
                <a:cs typeface="Times New Roman" panose="02020603050405020304" pitchFamily="18" charset="0"/>
                <a:sym typeface="Nunito"/>
              </a:rPr>
              <a:t>Use Case Diagram</a:t>
            </a:r>
            <a:endParaRPr sz="3600" b="1" dirty="0">
              <a:latin typeface="Times New Roman" panose="02020603050405020304" pitchFamily="18" charset="0"/>
              <a:ea typeface="Nunito"/>
              <a:cs typeface="Times New Roman" panose="02020603050405020304" pitchFamily="18" charset="0"/>
              <a:sym typeface="Nunito"/>
            </a:endParaRPr>
          </a:p>
          <a:p>
            <a:pPr marL="0" lvl="0" indent="0" algn="l" rtl="0">
              <a:spcBef>
                <a:spcPts val="0"/>
              </a:spcBef>
              <a:spcAft>
                <a:spcPts val="0"/>
              </a:spcAft>
              <a:buNone/>
            </a:pP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67" name="Google Shape;167;p23"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68" name="Google Shape;168;p23"/>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15</a:t>
            </a:fld>
            <a:endParaRPr/>
          </a:p>
        </p:txBody>
      </p:sp>
      <p:pic>
        <p:nvPicPr>
          <p:cNvPr id="12" name="Picture 11" descr="A diagram of a football analysis&#10;&#10;Description automatically generated">
            <a:extLst>
              <a:ext uri="{FF2B5EF4-FFF2-40B4-BE49-F238E27FC236}">
                <a16:creationId xmlns:a16="http://schemas.microsoft.com/office/drawing/2014/main" id="{C92678F3-1014-283A-735C-A624722CF456}"/>
              </a:ext>
            </a:extLst>
          </p:cNvPr>
          <p:cNvPicPr>
            <a:picLocks noChangeAspect="1"/>
          </p:cNvPicPr>
          <p:nvPr/>
        </p:nvPicPr>
        <p:blipFill>
          <a:blip r:embed="rId4"/>
          <a:stretch>
            <a:fillRect/>
          </a:stretch>
        </p:blipFill>
        <p:spPr>
          <a:xfrm>
            <a:off x="627937" y="2082025"/>
            <a:ext cx="10936125" cy="211083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64">
          <a:extLst>
            <a:ext uri="{FF2B5EF4-FFF2-40B4-BE49-F238E27FC236}">
              <a16:creationId xmlns:a16="http://schemas.microsoft.com/office/drawing/2014/main" id="{EB087FCC-B09D-81E6-30BF-39514125B673}"/>
            </a:ext>
          </a:extLst>
        </p:cNvPr>
        <p:cNvGrpSpPr/>
        <p:nvPr/>
      </p:nvGrpSpPr>
      <p:grpSpPr>
        <a:xfrm>
          <a:off x="0" y="0"/>
          <a:ext cx="0" cy="0"/>
          <a:chOff x="0" y="0"/>
          <a:chExt cx="0" cy="0"/>
        </a:xfrm>
      </p:grpSpPr>
      <p:sp>
        <p:nvSpPr>
          <p:cNvPr id="165" name="Google Shape;165;p23">
            <a:extLst>
              <a:ext uri="{FF2B5EF4-FFF2-40B4-BE49-F238E27FC236}">
                <a16:creationId xmlns:a16="http://schemas.microsoft.com/office/drawing/2014/main" id="{975804DD-D972-42BB-333F-53A30EC82822}"/>
              </a:ext>
            </a:extLst>
          </p:cNvPr>
          <p:cNvSpPr txBox="1">
            <a:spLocks noGrp="1"/>
          </p:cNvSpPr>
          <p:nvPr>
            <p:ph type="title"/>
          </p:nvPr>
        </p:nvSpPr>
        <p:spPr>
          <a:xfrm>
            <a:off x="838200" y="0"/>
            <a:ext cx="10515600" cy="1325700"/>
          </a:xfrm>
          <a:prstGeom prst="rect">
            <a:avLst/>
          </a:prstGeom>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chemeClr val="dk1"/>
              </a:buClr>
              <a:buSzPts val="1100"/>
              <a:buFont typeface="Arial"/>
              <a:buNone/>
            </a:pPr>
            <a:r>
              <a:rPr lang="en-US" sz="3600" b="1" dirty="0">
                <a:latin typeface="Times New Roman" panose="02020603050405020304" pitchFamily="18" charset="0"/>
                <a:ea typeface="Nunito"/>
                <a:cs typeface="Times New Roman" panose="02020603050405020304" pitchFamily="18" charset="0"/>
                <a:sym typeface="Nunito"/>
              </a:rPr>
              <a:t>DFD- Level 0,1</a:t>
            </a:r>
          </a:p>
        </p:txBody>
      </p:sp>
      <p:pic>
        <p:nvPicPr>
          <p:cNvPr id="167" name="Google Shape;167;p23"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E945D0ED-FA0B-0A07-4AC9-F32578052D50}"/>
              </a:ext>
            </a:extLst>
          </p:cNvPr>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68" name="Google Shape;168;p23">
            <a:extLst>
              <a:ext uri="{FF2B5EF4-FFF2-40B4-BE49-F238E27FC236}">
                <a16:creationId xmlns:a16="http://schemas.microsoft.com/office/drawing/2014/main" id="{05533B99-9FC1-D7AE-FD46-5F616718ECA6}"/>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16</a:t>
            </a:fld>
            <a:endParaRPr/>
          </a:p>
        </p:txBody>
      </p:sp>
      <p:pic>
        <p:nvPicPr>
          <p:cNvPr id="3" name="Picture 2">
            <a:extLst>
              <a:ext uri="{FF2B5EF4-FFF2-40B4-BE49-F238E27FC236}">
                <a16:creationId xmlns:a16="http://schemas.microsoft.com/office/drawing/2014/main" id="{3CF9ED12-927C-DFC1-3E3A-716B394D66A1}"/>
              </a:ext>
            </a:extLst>
          </p:cNvPr>
          <p:cNvPicPr>
            <a:picLocks noChangeAspect="1"/>
          </p:cNvPicPr>
          <p:nvPr/>
        </p:nvPicPr>
        <p:blipFill>
          <a:blip r:embed="rId4"/>
          <a:stretch>
            <a:fillRect/>
          </a:stretch>
        </p:blipFill>
        <p:spPr>
          <a:xfrm>
            <a:off x="1558541" y="1092425"/>
            <a:ext cx="2862000" cy="5004590"/>
          </a:xfrm>
          <a:prstGeom prst="rect">
            <a:avLst/>
          </a:prstGeom>
        </p:spPr>
      </p:pic>
      <p:pic>
        <p:nvPicPr>
          <p:cNvPr id="5" name="Picture 4">
            <a:extLst>
              <a:ext uri="{FF2B5EF4-FFF2-40B4-BE49-F238E27FC236}">
                <a16:creationId xmlns:a16="http://schemas.microsoft.com/office/drawing/2014/main" id="{9B0302A1-994C-43B6-D8B5-47FDA61FAD4E}"/>
              </a:ext>
            </a:extLst>
          </p:cNvPr>
          <p:cNvPicPr>
            <a:picLocks noChangeAspect="1"/>
          </p:cNvPicPr>
          <p:nvPr/>
        </p:nvPicPr>
        <p:blipFill>
          <a:blip r:embed="rId5"/>
          <a:stretch>
            <a:fillRect/>
          </a:stretch>
        </p:blipFill>
        <p:spPr>
          <a:xfrm>
            <a:off x="7655307" y="626669"/>
            <a:ext cx="3698493" cy="5604662"/>
          </a:xfrm>
          <a:prstGeom prst="rect">
            <a:avLst/>
          </a:prstGeom>
        </p:spPr>
      </p:pic>
      <p:sp>
        <p:nvSpPr>
          <p:cNvPr id="7" name="TextBox 6">
            <a:extLst>
              <a:ext uri="{FF2B5EF4-FFF2-40B4-BE49-F238E27FC236}">
                <a16:creationId xmlns:a16="http://schemas.microsoft.com/office/drawing/2014/main" id="{F98A6239-5665-8DC2-E8AC-7B13D32E2203}"/>
              </a:ext>
            </a:extLst>
          </p:cNvPr>
          <p:cNvSpPr txBox="1"/>
          <p:nvPr/>
        </p:nvSpPr>
        <p:spPr>
          <a:xfrm>
            <a:off x="2559737" y="6187073"/>
            <a:ext cx="1572768" cy="338554"/>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Level-0</a:t>
            </a:r>
          </a:p>
        </p:txBody>
      </p:sp>
      <p:sp>
        <p:nvSpPr>
          <p:cNvPr id="8" name="TextBox 7">
            <a:extLst>
              <a:ext uri="{FF2B5EF4-FFF2-40B4-BE49-F238E27FC236}">
                <a16:creationId xmlns:a16="http://schemas.microsoft.com/office/drawing/2014/main" id="{4C4828FF-8B1C-C4C7-D374-8453F07CF3D9}"/>
              </a:ext>
            </a:extLst>
          </p:cNvPr>
          <p:cNvSpPr txBox="1"/>
          <p:nvPr/>
        </p:nvSpPr>
        <p:spPr>
          <a:xfrm>
            <a:off x="9092420" y="6231331"/>
            <a:ext cx="824265" cy="338554"/>
          </a:xfrm>
          <a:prstGeom prst="rect">
            <a:avLst/>
          </a:prstGeom>
          <a:noFill/>
        </p:spPr>
        <p:txBody>
          <a:bodyPr wrap="none" rtlCol="0">
            <a:spAutoFit/>
          </a:bodyPr>
          <a:lstStyle/>
          <a:p>
            <a:r>
              <a:rPr lang="en-US" sz="1600" dirty="0">
                <a:latin typeface="Times New Roman" panose="02020603050405020304" pitchFamily="18" charset="0"/>
                <a:cs typeface="Times New Roman" panose="02020603050405020304" pitchFamily="18" charset="0"/>
              </a:rPr>
              <a:t>Level-1</a:t>
            </a:r>
          </a:p>
        </p:txBody>
      </p:sp>
    </p:spTree>
    <p:extLst>
      <p:ext uri="{BB962C8B-B14F-4D97-AF65-F5344CB8AC3E}">
        <p14:creationId xmlns:p14="http://schemas.microsoft.com/office/powerpoint/2010/main" val="8909498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24"/>
          <p:cNvSpPr txBox="1">
            <a:spLocks noGrp="1"/>
          </p:cNvSpPr>
          <p:nvPr>
            <p:ph type="title"/>
          </p:nvPr>
        </p:nvSpPr>
        <p:spPr>
          <a:xfrm>
            <a:off x="2371550" y="81750"/>
            <a:ext cx="10515600" cy="1325700"/>
          </a:xfrm>
          <a:prstGeom prst="rect">
            <a:avLst/>
          </a:prstGeom>
        </p:spPr>
        <p:txBody>
          <a:bodyPr spcFirstLastPara="1" wrap="square" lIns="91425" tIns="45700" rIns="91425" bIns="45700" anchor="ctr" anchorCtr="0">
            <a:normAutofit/>
          </a:bodyPr>
          <a:lstStyle/>
          <a:p>
            <a:pPr marL="0" lvl="0" indent="0" algn="l" rtl="0">
              <a:lnSpc>
                <a:spcPct val="100000"/>
              </a:lnSpc>
              <a:spcBef>
                <a:spcPts val="0"/>
              </a:spcBef>
              <a:spcAft>
                <a:spcPts val="0"/>
              </a:spcAft>
              <a:buClr>
                <a:schemeClr val="dk1"/>
              </a:buClr>
              <a:buSzPts val="1100"/>
              <a:buFont typeface="Arial"/>
              <a:buNone/>
            </a:pPr>
            <a:r>
              <a:rPr lang="en-US" sz="3600" b="1" dirty="0">
                <a:latin typeface="Times New Roman" panose="02020603050405020304" pitchFamily="18" charset="0"/>
                <a:ea typeface="Nunito"/>
                <a:cs typeface="Times New Roman" panose="02020603050405020304" pitchFamily="18" charset="0"/>
                <a:sym typeface="Nunito"/>
              </a:rPr>
              <a:t>Activity Diagram</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76" name="Google Shape;176;p24"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77" name="Google Shape;177;p24"/>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17</a:t>
            </a:fld>
            <a:endParaRPr/>
          </a:p>
        </p:txBody>
      </p:sp>
      <p:pic>
        <p:nvPicPr>
          <p:cNvPr id="5" name="Picture 4" descr="A diagram of a diagram&#10;&#10;Description automatically generated">
            <a:extLst>
              <a:ext uri="{FF2B5EF4-FFF2-40B4-BE49-F238E27FC236}">
                <a16:creationId xmlns:a16="http://schemas.microsoft.com/office/drawing/2014/main" id="{48270DDD-3916-B3CF-6BED-B690682A1D53}"/>
              </a:ext>
            </a:extLst>
          </p:cNvPr>
          <p:cNvPicPr>
            <a:picLocks noChangeAspect="1"/>
          </p:cNvPicPr>
          <p:nvPr/>
        </p:nvPicPr>
        <p:blipFill>
          <a:blip r:embed="rId4"/>
          <a:stretch>
            <a:fillRect/>
          </a:stretch>
        </p:blipFill>
        <p:spPr>
          <a:xfrm>
            <a:off x="6656314" y="0"/>
            <a:ext cx="1701098"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p25"/>
          <p:cNvSpPr txBox="1">
            <a:spLocks noGrp="1"/>
          </p:cNvSpPr>
          <p:nvPr>
            <p:ph type="title"/>
          </p:nvPr>
        </p:nvSpPr>
        <p:spPr>
          <a:xfrm>
            <a:off x="1707750" y="8806"/>
            <a:ext cx="8546700" cy="1063500"/>
          </a:xfrm>
          <a:prstGeom prst="rect">
            <a:avLst/>
          </a:prstGeom>
        </p:spPr>
        <p:txBody>
          <a:bodyPr spcFirstLastPara="1" wrap="square" lIns="91425" tIns="45700" rIns="91425" bIns="45700" anchor="ctr" anchorCtr="0">
            <a:normAutofit fontScale="90000"/>
          </a:bodyPr>
          <a:lstStyle/>
          <a:p>
            <a:pPr marL="0" lvl="0" indent="0" algn="ctr" rtl="0">
              <a:lnSpc>
                <a:spcPct val="200000"/>
              </a:lnSpc>
              <a:spcBef>
                <a:spcPts val="1000"/>
              </a:spcBef>
              <a:spcAft>
                <a:spcPts val="0"/>
              </a:spcAft>
              <a:buSzPts val="990"/>
              <a:buNone/>
            </a:pPr>
            <a:r>
              <a:rPr lang="en-US" sz="3420" b="1" dirty="0">
                <a:latin typeface="Times New Roman" panose="02020603050405020304" pitchFamily="18" charset="0"/>
                <a:ea typeface="Nunito"/>
                <a:cs typeface="Times New Roman" panose="02020603050405020304" pitchFamily="18" charset="0"/>
                <a:sym typeface="Nunito"/>
              </a:rPr>
              <a:t>Software And Hardware Requirements</a:t>
            </a:r>
            <a:endParaRPr sz="3420" b="1" dirty="0">
              <a:latin typeface="Times New Roman" panose="02020603050405020304" pitchFamily="18" charset="0"/>
              <a:ea typeface="Nunito"/>
              <a:cs typeface="Times New Roman" panose="02020603050405020304" pitchFamily="18" charset="0"/>
              <a:sym typeface="Nunito"/>
            </a:endParaRPr>
          </a:p>
        </p:txBody>
      </p:sp>
      <p:pic>
        <p:nvPicPr>
          <p:cNvPr id="189" name="Google Shape;189;p25"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5" y="81750"/>
            <a:ext cx="1552225" cy="917612"/>
          </a:xfrm>
          <a:prstGeom prst="rect">
            <a:avLst/>
          </a:prstGeom>
          <a:noFill/>
          <a:ln>
            <a:noFill/>
          </a:ln>
        </p:spPr>
      </p:pic>
      <p:graphicFrame>
        <p:nvGraphicFramePr>
          <p:cNvPr id="8" name="Table 7">
            <a:extLst>
              <a:ext uri="{FF2B5EF4-FFF2-40B4-BE49-F238E27FC236}">
                <a16:creationId xmlns:a16="http://schemas.microsoft.com/office/drawing/2014/main" id="{0DE67A9B-D0E8-5E1A-2E2B-E4FD7921F904}"/>
              </a:ext>
            </a:extLst>
          </p:cNvPr>
          <p:cNvGraphicFramePr>
            <a:graphicFrameLocks noGrp="1"/>
          </p:cNvGraphicFramePr>
          <p:nvPr>
            <p:extLst>
              <p:ext uri="{D42A27DB-BD31-4B8C-83A1-F6EECF244321}">
                <p14:modId xmlns:p14="http://schemas.microsoft.com/office/powerpoint/2010/main" val="746643722"/>
              </p:ext>
            </p:extLst>
          </p:nvPr>
        </p:nvGraphicFramePr>
        <p:xfrm>
          <a:off x="77763" y="1417988"/>
          <a:ext cx="12036474" cy="4817328"/>
        </p:xfrm>
        <a:graphic>
          <a:graphicData uri="http://schemas.openxmlformats.org/drawingml/2006/table">
            <a:tbl>
              <a:tblPr/>
              <a:tblGrid>
                <a:gridCol w="4012158">
                  <a:extLst>
                    <a:ext uri="{9D8B030D-6E8A-4147-A177-3AD203B41FA5}">
                      <a16:colId xmlns:a16="http://schemas.microsoft.com/office/drawing/2014/main" val="92804354"/>
                    </a:ext>
                  </a:extLst>
                </a:gridCol>
                <a:gridCol w="4012158">
                  <a:extLst>
                    <a:ext uri="{9D8B030D-6E8A-4147-A177-3AD203B41FA5}">
                      <a16:colId xmlns:a16="http://schemas.microsoft.com/office/drawing/2014/main" val="3133565654"/>
                    </a:ext>
                  </a:extLst>
                </a:gridCol>
                <a:gridCol w="4012158">
                  <a:extLst>
                    <a:ext uri="{9D8B030D-6E8A-4147-A177-3AD203B41FA5}">
                      <a16:colId xmlns:a16="http://schemas.microsoft.com/office/drawing/2014/main" val="1650958773"/>
                    </a:ext>
                  </a:extLst>
                </a:gridCol>
              </a:tblGrid>
              <a:tr h="359502">
                <a:tc>
                  <a:txBody>
                    <a:bodyPr/>
                    <a:lstStyle/>
                    <a:p>
                      <a:r>
                        <a:rPr lang="en-US" sz="1600" b="1">
                          <a:latin typeface="Times New Roman" panose="02020603050405020304" pitchFamily="18" charset="0"/>
                          <a:cs typeface="Times New Roman" panose="02020603050405020304" pitchFamily="18" charset="0"/>
                        </a:rPr>
                        <a:t>Category</a:t>
                      </a:r>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b="1">
                          <a:latin typeface="Times New Roman" panose="02020603050405020304" pitchFamily="18" charset="0"/>
                          <a:cs typeface="Times New Roman" panose="02020603050405020304" pitchFamily="18" charset="0"/>
                        </a:rPr>
                        <a:t>Requirement Type</a:t>
                      </a:r>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b="1">
                          <a:latin typeface="Times New Roman" panose="02020603050405020304" pitchFamily="18" charset="0"/>
                          <a:cs typeface="Times New Roman" panose="02020603050405020304" pitchFamily="18" charset="0"/>
                        </a:rPr>
                        <a:t>Description</a:t>
                      </a:r>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extLst>
                  <a:ext uri="{0D108BD9-81ED-4DB2-BD59-A6C34878D82A}">
                    <a16:rowId xmlns:a16="http://schemas.microsoft.com/office/drawing/2014/main" val="3666239986"/>
                  </a:ext>
                </a:extLst>
              </a:tr>
              <a:tr h="359502">
                <a:tc>
                  <a:txBody>
                    <a:bodyPr/>
                    <a:lstStyle/>
                    <a:p>
                      <a:r>
                        <a:rPr lang="en-US" sz="1600" b="1" dirty="0">
                          <a:latin typeface="Times New Roman" panose="02020603050405020304" pitchFamily="18" charset="0"/>
                          <a:cs typeface="Times New Roman" panose="02020603050405020304" pitchFamily="18" charset="0"/>
                        </a:rPr>
                        <a:t>Software</a:t>
                      </a:r>
                      <a:endParaRPr lang="en-US" sz="1600" dirty="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Operating System</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macOS, Linux, or Windows 10/11</a:t>
                      </a:r>
                    </a:p>
                  </a:txBody>
                  <a:tcPr anchor="ctr">
                    <a:lnL>
                      <a:noFill/>
                    </a:lnL>
                    <a:lnR>
                      <a:noFill/>
                    </a:lnR>
                    <a:lnT>
                      <a:noFill/>
                    </a:lnT>
                    <a:lnB>
                      <a:noFill/>
                    </a:lnB>
                    <a:noFill/>
                  </a:tcPr>
                </a:tc>
                <a:extLst>
                  <a:ext uri="{0D108BD9-81ED-4DB2-BD59-A6C34878D82A}">
                    <a16:rowId xmlns:a16="http://schemas.microsoft.com/office/drawing/2014/main" val="457346949"/>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Programming Language</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Python 3.x</a:t>
                      </a:r>
                    </a:p>
                  </a:txBody>
                  <a:tcPr anchor="ctr">
                    <a:lnL>
                      <a:noFill/>
                    </a:lnL>
                    <a:lnR>
                      <a:noFill/>
                    </a:lnR>
                    <a:lnT>
                      <a:noFill/>
                    </a:lnT>
                    <a:lnB>
                      <a:noFill/>
                    </a:lnB>
                    <a:noFill/>
                  </a:tcPr>
                </a:tc>
                <a:extLst>
                  <a:ext uri="{0D108BD9-81ED-4DB2-BD59-A6C34878D82A}">
                    <a16:rowId xmlns:a16="http://schemas.microsoft.com/office/drawing/2014/main" val="1586935808"/>
                  </a:ext>
                </a:extLst>
              </a:tr>
              <a:tr h="611154">
                <a:tc>
                  <a:txBody>
                    <a:bodyPr/>
                    <a:lstStyle/>
                    <a:p>
                      <a:endParaRPr lang="en-US" sz="1600" dirty="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Libraries &amp; Frameworks</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Ultralytics (YOLO), OpenCV, NumPy, Matplotlib</a:t>
                      </a:r>
                    </a:p>
                  </a:txBody>
                  <a:tcPr anchor="ctr">
                    <a:lnL>
                      <a:noFill/>
                    </a:lnL>
                    <a:lnR>
                      <a:noFill/>
                    </a:lnR>
                    <a:lnT>
                      <a:noFill/>
                    </a:lnT>
                    <a:lnB>
                      <a:noFill/>
                    </a:lnB>
                    <a:noFill/>
                  </a:tcPr>
                </a:tc>
                <a:extLst>
                  <a:ext uri="{0D108BD9-81ED-4DB2-BD59-A6C34878D82A}">
                    <a16:rowId xmlns:a16="http://schemas.microsoft.com/office/drawing/2014/main" val="662411702"/>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Development Tools</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Jupyter Notebook, Anaconda, VSCode</a:t>
                      </a:r>
                    </a:p>
                  </a:txBody>
                  <a:tcPr anchor="ctr">
                    <a:lnL>
                      <a:noFill/>
                    </a:lnL>
                    <a:lnR>
                      <a:noFill/>
                    </a:lnR>
                    <a:lnT>
                      <a:noFill/>
                    </a:lnT>
                    <a:lnB>
                      <a:noFill/>
                    </a:lnB>
                    <a:noFill/>
                  </a:tcPr>
                </a:tc>
                <a:extLst>
                  <a:ext uri="{0D108BD9-81ED-4DB2-BD59-A6C34878D82A}">
                    <a16:rowId xmlns:a16="http://schemas.microsoft.com/office/drawing/2014/main" val="1083450367"/>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Version Control</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Git</a:t>
                      </a:r>
                    </a:p>
                  </a:txBody>
                  <a:tcPr anchor="ctr">
                    <a:lnL>
                      <a:noFill/>
                    </a:lnL>
                    <a:lnR>
                      <a:noFill/>
                    </a:lnR>
                    <a:lnT>
                      <a:noFill/>
                    </a:lnT>
                    <a:lnB>
                      <a:noFill/>
                    </a:lnB>
                    <a:noFill/>
                  </a:tcPr>
                </a:tc>
                <a:extLst>
                  <a:ext uri="{0D108BD9-81ED-4DB2-BD59-A6C34878D82A}">
                    <a16:rowId xmlns:a16="http://schemas.microsoft.com/office/drawing/2014/main" val="3077268068"/>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Data Analysis Tools</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Pandas, Supervision for object tracking</a:t>
                      </a:r>
                    </a:p>
                  </a:txBody>
                  <a:tcPr anchor="ctr">
                    <a:lnL>
                      <a:noFill/>
                    </a:lnL>
                    <a:lnR>
                      <a:noFill/>
                    </a:lnR>
                    <a:lnT>
                      <a:noFill/>
                    </a:lnT>
                    <a:lnB>
                      <a:noFill/>
                    </a:lnB>
                    <a:noFill/>
                  </a:tcPr>
                </a:tc>
                <a:extLst>
                  <a:ext uri="{0D108BD9-81ED-4DB2-BD59-A6C34878D82A}">
                    <a16:rowId xmlns:a16="http://schemas.microsoft.com/office/drawing/2014/main" val="3006517343"/>
                  </a:ext>
                </a:extLst>
              </a:tr>
              <a:tr h="359502">
                <a:tc>
                  <a:txBody>
                    <a:bodyPr/>
                    <a:lstStyle/>
                    <a:p>
                      <a:r>
                        <a:rPr lang="en-US" sz="1600" b="1">
                          <a:latin typeface="Times New Roman" panose="02020603050405020304" pitchFamily="18" charset="0"/>
                          <a:cs typeface="Times New Roman" panose="02020603050405020304" pitchFamily="18" charset="0"/>
                        </a:rPr>
                        <a:t>Hardware</a:t>
                      </a:r>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Processor</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Intel i5/i7 or Apple M1/M2</a:t>
                      </a:r>
                    </a:p>
                  </a:txBody>
                  <a:tcPr anchor="ctr">
                    <a:lnL>
                      <a:noFill/>
                    </a:lnL>
                    <a:lnR>
                      <a:noFill/>
                    </a:lnR>
                    <a:lnT>
                      <a:noFill/>
                    </a:lnT>
                    <a:lnB>
                      <a:noFill/>
                    </a:lnB>
                    <a:noFill/>
                  </a:tcPr>
                </a:tc>
                <a:extLst>
                  <a:ext uri="{0D108BD9-81ED-4DB2-BD59-A6C34878D82A}">
                    <a16:rowId xmlns:a16="http://schemas.microsoft.com/office/drawing/2014/main" val="1703907895"/>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RAM</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Minimum 8GB (Recommended: 16GB)</a:t>
                      </a:r>
                    </a:p>
                  </a:txBody>
                  <a:tcPr anchor="ctr">
                    <a:lnL>
                      <a:noFill/>
                    </a:lnL>
                    <a:lnR>
                      <a:noFill/>
                    </a:lnR>
                    <a:lnT>
                      <a:noFill/>
                    </a:lnT>
                    <a:lnB>
                      <a:noFill/>
                    </a:lnB>
                    <a:noFill/>
                  </a:tcPr>
                </a:tc>
                <a:extLst>
                  <a:ext uri="{0D108BD9-81ED-4DB2-BD59-A6C34878D82A}">
                    <a16:rowId xmlns:a16="http://schemas.microsoft.com/office/drawing/2014/main" val="1258027419"/>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Storage</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Minimum 256GB SSD</a:t>
                      </a:r>
                    </a:p>
                  </a:txBody>
                  <a:tcPr anchor="ctr">
                    <a:lnL>
                      <a:noFill/>
                    </a:lnL>
                    <a:lnR>
                      <a:noFill/>
                    </a:lnR>
                    <a:lnT>
                      <a:noFill/>
                    </a:lnT>
                    <a:lnB>
                      <a:noFill/>
                    </a:lnB>
                    <a:noFill/>
                  </a:tcPr>
                </a:tc>
                <a:extLst>
                  <a:ext uri="{0D108BD9-81ED-4DB2-BD59-A6C34878D82A}">
                    <a16:rowId xmlns:a16="http://schemas.microsoft.com/office/drawing/2014/main" val="2405082880"/>
                  </a:ext>
                </a:extLst>
              </a:tr>
              <a:tr h="611154">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dirty="0">
                          <a:latin typeface="Times New Roman" panose="02020603050405020304" pitchFamily="18" charset="0"/>
                          <a:cs typeface="Times New Roman" panose="02020603050405020304" pitchFamily="18" charset="0"/>
                        </a:rPr>
                        <a:t>GPU (Optional)</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NVIDIA GTX 1050 or higher for faster training</a:t>
                      </a:r>
                    </a:p>
                  </a:txBody>
                  <a:tcPr anchor="ctr">
                    <a:lnL>
                      <a:noFill/>
                    </a:lnL>
                    <a:lnR>
                      <a:noFill/>
                    </a:lnR>
                    <a:lnT>
                      <a:noFill/>
                    </a:lnT>
                    <a:lnB>
                      <a:noFill/>
                    </a:lnB>
                    <a:noFill/>
                  </a:tcPr>
                </a:tc>
                <a:extLst>
                  <a:ext uri="{0D108BD9-81ED-4DB2-BD59-A6C34878D82A}">
                    <a16:rowId xmlns:a16="http://schemas.microsoft.com/office/drawing/2014/main" val="1872335257"/>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Camera (Optional)</a:t>
                      </a:r>
                    </a:p>
                  </a:txBody>
                  <a:tcPr anchor="ctr">
                    <a:lnL>
                      <a:noFill/>
                    </a:lnL>
                    <a:lnR>
                      <a:noFill/>
                    </a:lnR>
                    <a:lnT>
                      <a:noFill/>
                    </a:lnT>
                    <a:lnB>
                      <a:noFill/>
                    </a:lnB>
                    <a:noFill/>
                  </a:tcPr>
                </a:tc>
                <a:tc>
                  <a:txBody>
                    <a:bodyPr/>
                    <a:lstStyle/>
                    <a:p>
                      <a:r>
                        <a:rPr lang="en-US" sz="1600" dirty="0">
                          <a:latin typeface="Times New Roman" panose="02020603050405020304" pitchFamily="18" charset="0"/>
                          <a:cs typeface="Times New Roman" panose="02020603050405020304" pitchFamily="18" charset="0"/>
                        </a:rPr>
                        <a:t>HD Camera for real-time tracking</a:t>
                      </a:r>
                    </a:p>
                  </a:txBody>
                  <a:tcPr anchor="ctr">
                    <a:lnL>
                      <a:noFill/>
                    </a:lnL>
                    <a:lnR>
                      <a:noFill/>
                    </a:lnR>
                    <a:lnT>
                      <a:noFill/>
                    </a:lnT>
                    <a:lnB>
                      <a:noFill/>
                    </a:lnB>
                    <a:noFill/>
                  </a:tcPr>
                </a:tc>
                <a:extLst>
                  <a:ext uri="{0D108BD9-81ED-4DB2-BD59-A6C34878D82A}">
                    <a16:rowId xmlns:a16="http://schemas.microsoft.com/office/drawing/2014/main" val="3528586531"/>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6"/>
          <p:cNvSpPr txBox="1">
            <a:spLocks noGrp="1"/>
          </p:cNvSpPr>
          <p:nvPr>
            <p:ph type="title"/>
          </p:nvPr>
        </p:nvSpPr>
        <p:spPr>
          <a:xfrm>
            <a:off x="838200" y="365125"/>
            <a:ext cx="10515600" cy="11454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Conclusion</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97" name="Google Shape;197;p26"/>
          <p:cNvSpPr txBox="1">
            <a:spLocks noGrp="1"/>
          </p:cNvSpPr>
          <p:nvPr>
            <p:ph type="body" idx="1"/>
          </p:nvPr>
        </p:nvSpPr>
        <p:spPr>
          <a:xfrm>
            <a:off x="838200" y="1445288"/>
            <a:ext cx="10858500" cy="4558200"/>
          </a:xfrm>
          <a:prstGeom prst="rect">
            <a:avLst/>
          </a:prstGeom>
        </p:spPr>
        <p:txBody>
          <a:bodyPr spcFirstLastPara="1" wrap="square" lIns="91425" tIns="45700" rIns="91425" bIns="45700" anchor="t" anchorCtr="0">
            <a:noAutofit/>
          </a:bodyPr>
          <a:lstStyle/>
          <a:p>
            <a:pPr marL="0" lvl="0" indent="0" algn="l" rtl="0">
              <a:lnSpc>
                <a:spcPct val="200000"/>
              </a:lnSpc>
              <a:spcBef>
                <a:spcPts val="600"/>
              </a:spcBef>
              <a:spcAft>
                <a:spcPts val="0"/>
              </a:spcAft>
              <a:buNone/>
            </a:pPr>
            <a:endParaRPr sz="1600" dirty="0">
              <a:latin typeface="Montserrat"/>
              <a:ea typeface="Montserrat"/>
              <a:cs typeface="Montserrat"/>
              <a:sym typeface="Montserrat"/>
            </a:endParaRPr>
          </a:p>
          <a:p>
            <a:pPr marL="457200" lvl="0" indent="-330200" algn="l" rtl="0">
              <a:lnSpc>
                <a:spcPct val="200000"/>
              </a:lnSpc>
              <a:spcBef>
                <a:spcPts val="600"/>
              </a:spcBef>
              <a:spcAft>
                <a:spcPts val="0"/>
              </a:spcAft>
              <a:buSzPts val="1600"/>
              <a:buFont typeface="Montserrat"/>
              <a:buChar char="•"/>
            </a:pPr>
            <a:endParaRPr sz="1600" dirty="0">
              <a:latin typeface="Montserrat"/>
              <a:ea typeface="Montserrat"/>
              <a:cs typeface="Montserrat"/>
              <a:sym typeface="Montserrat"/>
            </a:endParaRPr>
          </a:p>
          <a:p>
            <a:pPr marL="457200" lvl="0" indent="0" algn="l" rtl="0">
              <a:lnSpc>
                <a:spcPct val="200000"/>
              </a:lnSpc>
              <a:spcBef>
                <a:spcPts val="1000"/>
              </a:spcBef>
              <a:spcAft>
                <a:spcPts val="0"/>
              </a:spcAft>
              <a:buNone/>
            </a:pPr>
            <a:endParaRPr sz="1600" dirty="0">
              <a:highlight>
                <a:srgbClr val="FFFF00"/>
              </a:highlight>
              <a:latin typeface="Montserrat"/>
              <a:ea typeface="Montserrat"/>
              <a:cs typeface="Montserrat"/>
              <a:sym typeface="Montserrat"/>
            </a:endParaRPr>
          </a:p>
        </p:txBody>
      </p:sp>
      <p:pic>
        <p:nvPicPr>
          <p:cNvPr id="198" name="Google Shape;198;p26"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99" name="Google Shape;199;p26"/>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19</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27"/>
          <p:cNvSpPr txBox="1">
            <a:spLocks noGrp="1"/>
          </p:cNvSpPr>
          <p:nvPr>
            <p:ph type="title"/>
          </p:nvPr>
        </p:nvSpPr>
        <p:spPr>
          <a:xfrm>
            <a:off x="838200" y="365125"/>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Reference</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205" name="Google Shape;205;p27"/>
          <p:cNvSpPr txBox="1">
            <a:spLocks noGrp="1"/>
          </p:cNvSpPr>
          <p:nvPr>
            <p:ph type="body" idx="1"/>
          </p:nvPr>
        </p:nvSpPr>
        <p:spPr>
          <a:xfrm>
            <a:off x="838200" y="1825625"/>
            <a:ext cx="10515600" cy="4351200"/>
          </a:xfrm>
          <a:prstGeom prst="rect">
            <a:avLst/>
          </a:prstGeom>
        </p:spPr>
        <p:txBody>
          <a:bodyPr spcFirstLastPara="1" wrap="square" lIns="91425" tIns="45700" rIns="91425" bIns="45700" anchor="t" anchorCtr="0">
            <a:normAutofit/>
          </a:bodyPr>
          <a:lstStyle/>
          <a:p>
            <a:r>
              <a:rPr lang="en-US" sz="1600" dirty="0">
                <a:latin typeface="Times New Roman" panose="02020603050405020304" pitchFamily="18" charset="0"/>
                <a:cs typeface="Times New Roman" panose="02020603050405020304" pitchFamily="18" charset="0"/>
              </a:rPr>
              <a:t>Bhavesh Pawar, 2023.</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"Football Detection with YOLOv3," International Research Journal of Modernization in Engineering Technology and Science, e-ISSN: 2582-5208, vol. 05(10), pages 2523-2524, October.</a:t>
            </a:r>
          </a:p>
          <a:p>
            <a:r>
              <a:rPr lang="en-US" sz="1600" dirty="0">
                <a:latin typeface="Times New Roman" panose="02020603050405020304" pitchFamily="18" charset="0"/>
                <a:cs typeface="Times New Roman" panose="02020603050405020304" pitchFamily="18" charset="0"/>
              </a:rPr>
              <a:t>Chakradhar </a:t>
            </a:r>
            <a:r>
              <a:rPr lang="en-US" sz="1600" dirty="0" err="1">
                <a:latin typeface="Times New Roman" panose="02020603050405020304" pitchFamily="18" charset="0"/>
                <a:cs typeface="Times New Roman" panose="02020603050405020304" pitchFamily="18" charset="0"/>
              </a:rPr>
              <a:t>Guntuboina</a:t>
            </a:r>
            <a:r>
              <a:rPr lang="en-US" sz="1600" dirty="0">
                <a:latin typeface="Times New Roman" panose="02020603050405020304" pitchFamily="18" charset="0"/>
                <a:cs typeface="Times New Roman" panose="02020603050405020304" pitchFamily="18" charset="0"/>
              </a:rPr>
              <a:t>, Aditya </a:t>
            </a:r>
            <a:r>
              <a:rPr lang="en-US" sz="1600" dirty="0" err="1">
                <a:latin typeface="Times New Roman" panose="02020603050405020304" pitchFamily="18" charset="0"/>
                <a:cs typeface="Times New Roman" panose="02020603050405020304" pitchFamily="18" charset="0"/>
              </a:rPr>
              <a:t>Porwal</a:t>
            </a:r>
            <a:r>
              <a:rPr lang="en-US" sz="1600" dirty="0">
                <a:latin typeface="Times New Roman" panose="02020603050405020304" pitchFamily="18" charset="0"/>
                <a:cs typeface="Times New Roman" panose="02020603050405020304" pitchFamily="18" charset="0"/>
              </a:rPr>
              <a:t>, Preet Jain, Hansa </a:t>
            </a:r>
            <a:r>
              <a:rPr lang="en-US" sz="1600" dirty="0" err="1">
                <a:latin typeface="Times New Roman" panose="02020603050405020304" pitchFamily="18" charset="0"/>
                <a:cs typeface="Times New Roman" panose="02020603050405020304" pitchFamily="18" charset="0"/>
              </a:rPr>
              <a:t>Shingrakhia</a:t>
            </a:r>
            <a:r>
              <a:rPr lang="en-US" sz="1600" dirty="0">
                <a:latin typeface="Times New Roman" panose="02020603050405020304" pitchFamily="18" charset="0"/>
                <a:cs typeface="Times New Roman" panose="02020603050405020304" pitchFamily="18" charset="0"/>
              </a:rPr>
              <a:t>, 2021.</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"Deep Learning Based Automated Sports Video Summarization using YOLO," Electronic Letters on Computer Vision and Image Analysis, vol. 20(1), pages 99-116, May.</a:t>
            </a:r>
          </a:p>
          <a:p>
            <a:r>
              <a:rPr lang="en-US" sz="1600" dirty="0">
                <a:latin typeface="Times New Roman" panose="02020603050405020304" pitchFamily="18" charset="0"/>
                <a:cs typeface="Times New Roman" panose="02020603050405020304" pitchFamily="18" charset="0"/>
              </a:rPr>
              <a:t>Gurpreet Kaur, Harsh Maheshwari, </a:t>
            </a:r>
            <a:r>
              <a:rPr lang="en-US" sz="1600" dirty="0" err="1">
                <a:latin typeface="Times New Roman" panose="02020603050405020304" pitchFamily="18" charset="0"/>
                <a:cs typeface="Times New Roman" panose="02020603050405020304" pitchFamily="18" charset="0"/>
              </a:rPr>
              <a:t>Deepanjal</a:t>
            </a:r>
            <a:r>
              <a:rPr lang="en-US" sz="1600" dirty="0">
                <a:latin typeface="Times New Roman" panose="02020603050405020304" pitchFamily="18" charset="0"/>
                <a:cs typeface="Times New Roman" panose="02020603050405020304" pitchFamily="18" charset="0"/>
              </a:rPr>
              <a:t> Uppal, Aditya Prakash Rai, 2024.</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"Advanced Football Analysis System Using Machine Learning, Computer Vision, and Deep Learning Techniques," International Research Journal of Modernization in Engineering Technology and Science, e-ISSN: 2582-5208, vol. 06(11), pages 64054, November. DOI</a:t>
            </a:r>
          </a:p>
        </p:txBody>
      </p:sp>
      <p:pic>
        <p:nvPicPr>
          <p:cNvPr id="206" name="Google Shape;206;p27"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207" name="Google Shape;207;p27"/>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20</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pic>
        <p:nvPicPr>
          <p:cNvPr id="212" name="Google Shape;212;p28"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213" name="Google Shape;213;p28"/>
          <p:cNvSpPr txBox="1"/>
          <p:nvPr/>
        </p:nvSpPr>
        <p:spPr>
          <a:xfrm>
            <a:off x="3893250" y="2874900"/>
            <a:ext cx="4405500" cy="1108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6000">
                <a:latin typeface="Pacifico"/>
                <a:ea typeface="Pacifico"/>
                <a:cs typeface="Pacifico"/>
                <a:sym typeface="Pacifico"/>
              </a:rPr>
              <a:t>Thank You!</a:t>
            </a:r>
            <a:endParaRPr sz="6000">
              <a:latin typeface="Pacifico"/>
              <a:ea typeface="Pacifico"/>
              <a:cs typeface="Pacifico"/>
              <a:sym typeface="Pacifico"/>
            </a:endParaRPr>
          </a:p>
        </p:txBody>
      </p:sp>
      <p:sp>
        <p:nvSpPr>
          <p:cNvPr id="214" name="Google Shape;214;p28"/>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21</a:t>
            </a:fld>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361</TotalTime>
  <Words>2089</Words>
  <Application>Microsoft Macintosh PowerPoint</Application>
  <PresentationFormat>Widescreen</PresentationFormat>
  <Paragraphs>259</Paragraphs>
  <Slides>21</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21</vt:i4>
      </vt:variant>
    </vt:vector>
  </HeadingPairs>
  <TitlesOfParts>
    <vt:vector size="27" baseType="lpstr">
      <vt:lpstr>Calibri</vt:lpstr>
      <vt:lpstr>Montserrat</vt:lpstr>
      <vt:lpstr>Pacifico</vt:lpstr>
      <vt:lpstr>Arial</vt:lpstr>
      <vt:lpstr>Times New Roman</vt:lpstr>
      <vt:lpstr>Office Theme</vt:lpstr>
      <vt:lpstr>“Intelligent Football Analytics with YOLO and Machine Learning”</vt:lpstr>
      <vt:lpstr>PowerPoint Presentation</vt:lpstr>
      <vt:lpstr>PowerPoint Presentation</vt:lpstr>
      <vt:lpstr>PowerPoint Presentation</vt:lpstr>
      <vt:lpstr>PowerPoint Presentation</vt:lpstr>
      <vt:lpstr>PowerPoint Presentation</vt:lpstr>
      <vt:lpstr>PowerPoint Presentation</vt:lpstr>
      <vt:lpstr>Research Gap</vt:lpstr>
      <vt:lpstr>Problem Statement</vt:lpstr>
      <vt:lpstr>Objective</vt:lpstr>
      <vt:lpstr>Scope</vt:lpstr>
      <vt:lpstr>Software Development Life Cycle : Agile Model</vt:lpstr>
      <vt:lpstr>Functional Requirements</vt:lpstr>
      <vt:lpstr>Proposed Architecture</vt:lpstr>
      <vt:lpstr>Use Case Diagram </vt:lpstr>
      <vt:lpstr>DFD- Level 0,1</vt:lpstr>
      <vt:lpstr>Activity Diagram</vt:lpstr>
      <vt:lpstr>Software And Hardware Requirements</vt:lpstr>
      <vt:lpstr>Conclusion</vt:lpstr>
      <vt:lpstr>Reference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Muhammad Moinuddin Quazi</cp:lastModifiedBy>
  <cp:revision>3</cp:revision>
  <dcterms:modified xsi:type="dcterms:W3CDTF">2025-02-11T12:14:55Z</dcterms:modified>
</cp:coreProperties>
</file>
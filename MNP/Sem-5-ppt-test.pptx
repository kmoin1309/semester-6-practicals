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embeddedFontLst>
    <p:embeddedFont>
      <p:font typeface="Montserrat" pitchFamily="2" charset="77"/>
      <p:regular r:id="rId20"/>
      <p:bold r:id="rId21"/>
      <p:italic r:id="rId22"/>
      <p:boldItalic r:id="rId23"/>
    </p:embeddedFont>
    <p:embeddedFont>
      <p:font typeface="Nunito" pitchFamily="2" charset="77"/>
      <p:regular r:id="rId24"/>
      <p:bold r:id="rId25"/>
      <p:italic r:id="rId26"/>
      <p:boldItalic r:id="rId27"/>
    </p:embeddedFont>
    <p:embeddedFont>
      <p:font typeface="Pacifico" pitchFamily="2" charset="77"/>
      <p:regular r:id="rId28"/>
    </p:embeddedFont>
    <p:embeddedFont>
      <p:font typeface="Playfair Display" pitchFamily="2" charset="77"/>
      <p:regular r:id="rId29"/>
      <p:bold r:id="rId30"/>
      <p:italic r:id="rId31"/>
      <p:boldItalic r:id="rId32"/>
    </p:embeddedFont>
    <p:embeddedFont>
      <p:font typeface="Quicksand" pitchFamily="2" charset="77"/>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9D26DDB-0AB3-4B55-984C-C8273E174064}">
  <a:tblStyle styleId="{09D26DDB-0AB3-4B55-984C-C8273E17406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96"/>
    <p:restoredTop sz="94668"/>
  </p:normalViewPr>
  <p:slideViewPr>
    <p:cSldViewPr snapToGrid="0">
      <p:cViewPr>
        <p:scale>
          <a:sx n="114" d="100"/>
          <a:sy n="114" d="100"/>
        </p:scale>
        <p:origin x="1352" y="7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font" Target="fonts/font1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5" name="Google Shape;7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f8dcb4488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f8dcb4488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f8dcb44881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f8dcb44881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f8dcb44881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f8dcb44881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f9ae72e39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f9ae72e390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2ec636aa7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2ec636aa7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f8dcb44881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f8dcb44881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f8dcb44881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f8dcb44881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f8dcb44881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f8dcb44881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2ec636aa75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2ec636aa7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f8dcb44881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f8dcb4488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2ec636aa75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2ec636aa75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2ec636aa75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2ec636aa75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f8dcb44881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f8dcb44881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f8dcb44881_0_6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f8dcb44881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f8dcb44881_0_8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f8dcb44881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0" name="Google Shape;21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2" name="Google Shape;32;p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4" name="Google Shape;34;p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3"/>
        <p:cNvGrpSpPr/>
        <p:nvPr/>
      </p:nvGrpSpPr>
      <p:grpSpPr>
        <a:xfrm>
          <a:off x="0" y="0"/>
          <a:ext cx="0" cy="0"/>
          <a:chOff x="0" y="0"/>
          <a:chExt cx="0" cy="0"/>
        </a:xfrm>
      </p:grpSpPr>
      <p:sp>
        <p:nvSpPr>
          <p:cNvPr id="44" name="Google Shape;4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7"/>
        <p:cNvGrpSpPr/>
        <p:nvPr/>
      </p:nvGrpSpPr>
      <p:grpSpPr>
        <a:xfrm>
          <a:off x="0" y="0"/>
          <a:ext cx="0" cy="0"/>
          <a:chOff x="0" y="0"/>
          <a:chExt cx="0" cy="0"/>
        </a:xfrm>
      </p:grpSpPr>
      <p:sp>
        <p:nvSpPr>
          <p:cNvPr id="48" name="Google Shape;48;p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0" name="Google Shape;50;p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a:spLocks noGrp="1"/>
          </p:cNvSpPr>
          <p:nvPr>
            <p:ph type="pic" idx="2"/>
          </p:nvPr>
        </p:nvSpPr>
        <p:spPr>
          <a:xfrm>
            <a:off x="5183188" y="987425"/>
            <a:ext cx="6172200" cy="4873625"/>
          </a:xfrm>
          <a:prstGeom prst="rect">
            <a:avLst/>
          </a:prstGeom>
          <a:noFill/>
          <a:ln>
            <a:noFill/>
          </a:ln>
        </p:spPr>
      </p:sp>
      <p:sp>
        <p:nvSpPr>
          <p:cNvPr id="57" name="Google Shape;57;p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7"/>
        <p:cNvGrpSpPr/>
        <p:nvPr/>
      </p:nvGrpSpPr>
      <p:grpSpPr>
        <a:xfrm>
          <a:off x="0" y="0"/>
          <a:ext cx="0" cy="0"/>
          <a:chOff x="0" y="0"/>
          <a:chExt cx="0" cy="0"/>
        </a:xfrm>
      </p:grpSpPr>
      <p:sp>
        <p:nvSpPr>
          <p:cNvPr id="68" name="Google Shape;68;p1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2"/>
          <p:cNvSpPr txBox="1">
            <a:spLocks noGrp="1"/>
          </p:cNvSpPr>
          <p:nvPr>
            <p:ph type="ctrTitle"/>
          </p:nvPr>
        </p:nvSpPr>
        <p:spPr>
          <a:xfrm>
            <a:off x="2332800" y="944425"/>
            <a:ext cx="7526400" cy="7782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ts val="4000"/>
              <a:buFont typeface="Times New Roman"/>
              <a:buNone/>
            </a:pPr>
            <a:r>
              <a:rPr lang="en-US" sz="4000" b="1" dirty="0">
                <a:latin typeface="Times New Roman"/>
                <a:ea typeface="Times New Roman"/>
                <a:cs typeface="Times New Roman"/>
                <a:sym typeface="Times New Roman"/>
              </a:rPr>
              <a:t>“Intelligent Football Analytics with YOLO and Machine Learning”</a:t>
            </a:r>
            <a:endParaRPr dirty="0"/>
          </a:p>
        </p:txBody>
      </p:sp>
      <p:pic>
        <p:nvPicPr>
          <p:cNvPr id="78" name="Google Shape;78;p12"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79" name="Google Shape;79;p12"/>
          <p:cNvSpPr txBox="1"/>
          <p:nvPr/>
        </p:nvSpPr>
        <p:spPr>
          <a:xfrm>
            <a:off x="1432389" y="4973781"/>
            <a:ext cx="38484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Under the Guidance of :</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Prof. Priyanka Patel</a:t>
            </a:r>
            <a:endParaRPr sz="1800" b="0" i="0" u="none" strike="noStrike" cap="none" dirty="0">
              <a:solidFill>
                <a:schemeClr val="dk1"/>
              </a:solidFill>
              <a:latin typeface="Times New Roman"/>
              <a:ea typeface="Times New Roman"/>
              <a:cs typeface="Times New Roman"/>
              <a:sym typeface="Times New Roman"/>
            </a:endParaRPr>
          </a:p>
        </p:txBody>
      </p:sp>
      <p:sp>
        <p:nvSpPr>
          <p:cNvPr id="80" name="Google Shape;80;p12"/>
          <p:cNvSpPr txBox="1"/>
          <p:nvPr/>
        </p:nvSpPr>
        <p:spPr>
          <a:xfrm>
            <a:off x="2285550" y="2305350"/>
            <a:ext cx="7620900" cy="1939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rgbClr val="000000"/>
                </a:solidFill>
                <a:latin typeface="Times New Roman"/>
                <a:ea typeface="Times New Roman"/>
                <a:cs typeface="Times New Roman"/>
                <a:sym typeface="Times New Roman"/>
              </a:rPr>
              <a:t>Department of Computer Engineering</a:t>
            </a:r>
            <a:endParaRPr sz="20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rgbClr val="000000"/>
                </a:solidFill>
                <a:latin typeface="Times New Roman"/>
                <a:ea typeface="Times New Roman"/>
                <a:cs typeface="Times New Roman"/>
                <a:sym typeface="Times New Roman"/>
              </a:rPr>
              <a:t>TERNA ENGINEERING COLLEGE </a:t>
            </a:r>
            <a:endParaRPr sz="20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Times New Roman"/>
                <a:ea typeface="Times New Roman"/>
                <a:cs typeface="Times New Roman"/>
                <a:sym typeface="Times New Roman"/>
              </a:rPr>
              <a:t>Nerul (W), Navi Mumbai 400706</a:t>
            </a:r>
            <a:endParaRPr sz="20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br>
              <a:rPr lang="en-US" sz="2000" b="1" i="0" u="none" strike="noStrike" cap="none" dirty="0">
                <a:solidFill>
                  <a:srgbClr val="FF0000"/>
                </a:solidFill>
                <a:latin typeface="Times New Roman"/>
                <a:ea typeface="Times New Roman"/>
                <a:cs typeface="Times New Roman"/>
                <a:sym typeface="Times New Roman"/>
              </a:rPr>
            </a:br>
            <a:r>
              <a:rPr lang="en-US" sz="2000" b="1" i="0" u="none" strike="noStrike" cap="none" dirty="0">
                <a:solidFill>
                  <a:srgbClr val="FF0000"/>
                </a:solidFill>
                <a:latin typeface="Times New Roman"/>
                <a:ea typeface="Times New Roman"/>
                <a:cs typeface="Times New Roman"/>
                <a:sym typeface="Times New Roman"/>
              </a:rPr>
              <a:t>Group ID : </a:t>
            </a:r>
            <a:r>
              <a:rPr lang="en-US" sz="2000" b="1" dirty="0">
                <a:solidFill>
                  <a:srgbClr val="FF0000"/>
                </a:solidFill>
                <a:latin typeface="Times New Roman"/>
                <a:ea typeface="Times New Roman"/>
                <a:cs typeface="Times New Roman"/>
                <a:sym typeface="Times New Roman"/>
              </a:rPr>
              <a:t>0</a:t>
            </a:r>
            <a:endParaRPr sz="2000" b="1" i="0" u="none" strike="noStrike" cap="none" dirty="0">
              <a:solidFill>
                <a:srgbClr val="FF0000"/>
              </a:solidFill>
              <a:latin typeface="Times New Roman"/>
              <a:ea typeface="Times New Roman"/>
              <a:cs typeface="Times New Roman"/>
              <a:sym typeface="Times New Roman"/>
            </a:endParaRPr>
          </a:p>
        </p:txBody>
      </p:sp>
      <p:sp>
        <p:nvSpPr>
          <p:cNvPr id="81" name="Google Shape;81;p12"/>
          <p:cNvSpPr txBox="1"/>
          <p:nvPr/>
        </p:nvSpPr>
        <p:spPr>
          <a:xfrm>
            <a:off x="6109855" y="4973781"/>
            <a:ext cx="5777400"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Group Members:</a:t>
            </a:r>
            <a:r>
              <a:rPr lang="en-US" sz="1800" dirty="0">
                <a:solidFill>
                  <a:schemeClr val="dk1"/>
                </a:solidFill>
                <a:latin typeface="Times New Roman"/>
                <a:ea typeface="Times New Roman"/>
                <a:cs typeface="Times New Roman"/>
                <a:sym typeface="Times New Roman"/>
              </a:rPr>
              <a:t> </a:t>
            </a:r>
            <a:r>
              <a:rPr lang="en-US" sz="1800" b="0" i="0" u="none" strike="noStrike" cap="none" dirty="0">
                <a:solidFill>
                  <a:schemeClr val="dk1"/>
                </a:solidFill>
                <a:latin typeface="Times New Roman"/>
                <a:ea typeface="Times New Roman"/>
                <a:cs typeface="Times New Roman"/>
                <a:sym typeface="Times New Roman"/>
              </a:rPr>
              <a:t>    Md Moinuddin Quazi 	A-</a:t>
            </a:r>
            <a:r>
              <a:rPr lang="en-US" sz="1800" dirty="0">
                <a:solidFill>
                  <a:schemeClr val="dk1"/>
                </a:solidFill>
                <a:latin typeface="Times New Roman"/>
                <a:ea typeface="Times New Roman"/>
                <a:cs typeface="Times New Roman"/>
                <a:sym typeface="Times New Roman"/>
              </a:rPr>
              <a:t>01</a:t>
            </a:r>
            <a:endParaRPr sz="1800" b="0" i="0" u="none" strike="noStrike" cap="none" dirty="0">
              <a:solidFill>
                <a:schemeClr val="dk1"/>
              </a:solidFill>
              <a:latin typeface="Times New Roman"/>
              <a:ea typeface="Times New Roman"/>
              <a:cs typeface="Times New Roman"/>
              <a:sym typeface="Times New Roman"/>
            </a:endParaRPr>
          </a:p>
          <a:p>
            <a:pPr marL="1371600" marR="0" lvl="0" indent="45720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Shravani </a:t>
            </a:r>
            <a:r>
              <a:rPr lang="en-US" sz="1800" b="0" i="0" u="none" strike="noStrike" cap="none" dirty="0" err="1">
                <a:solidFill>
                  <a:schemeClr val="dk1"/>
                </a:solidFill>
                <a:latin typeface="Times New Roman"/>
                <a:ea typeface="Times New Roman"/>
                <a:cs typeface="Times New Roman"/>
                <a:sym typeface="Times New Roman"/>
              </a:rPr>
              <a:t>Sawekar</a:t>
            </a:r>
            <a:r>
              <a:rPr lang="en-US" sz="1800" b="0" i="0" u="none" strike="noStrike" cap="none" dirty="0">
                <a:solidFill>
                  <a:schemeClr val="dk1"/>
                </a:solidFill>
                <a:latin typeface="Times New Roman"/>
                <a:ea typeface="Times New Roman"/>
                <a:cs typeface="Times New Roman"/>
                <a:sym typeface="Times New Roman"/>
              </a:rPr>
              <a:t>		A-</a:t>
            </a:r>
            <a:r>
              <a:rPr lang="en-US" sz="1800" dirty="0">
                <a:solidFill>
                  <a:schemeClr val="dk1"/>
                </a:solidFill>
                <a:latin typeface="Times New Roman"/>
                <a:ea typeface="Times New Roman"/>
                <a:cs typeface="Times New Roman"/>
                <a:sym typeface="Times New Roman"/>
              </a:rPr>
              <a:t>13</a:t>
            </a:r>
            <a:endParaRPr sz="18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r>
              <a:rPr lang="en-US" sz="1800" dirty="0">
                <a:solidFill>
                  <a:schemeClr val="dk1"/>
                </a:solidFill>
                <a:latin typeface="Times New Roman"/>
                <a:ea typeface="Times New Roman"/>
                <a:cs typeface="Times New Roman"/>
                <a:sym typeface="Times New Roman"/>
              </a:rPr>
              <a:t>Harshada Chavan		</a:t>
            </a:r>
            <a:r>
              <a:rPr lang="en-US" sz="1800" b="0" i="0" u="none" strike="noStrike" cap="none" dirty="0">
                <a:solidFill>
                  <a:schemeClr val="dk1"/>
                </a:solidFill>
                <a:latin typeface="Times New Roman"/>
                <a:ea typeface="Times New Roman"/>
                <a:cs typeface="Times New Roman"/>
                <a:sym typeface="Times New Roman"/>
              </a:rPr>
              <a:t>A-1</a:t>
            </a:r>
            <a:r>
              <a:rPr lang="en-US" sz="1800" dirty="0">
                <a:solidFill>
                  <a:schemeClr val="dk1"/>
                </a:solidFill>
                <a:latin typeface="Times New Roman"/>
                <a:ea typeface="Times New Roman"/>
                <a:cs typeface="Times New Roman"/>
                <a:sym typeface="Times New Roman"/>
              </a:rPr>
              <a:t>4</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graphicFrame>
        <p:nvGraphicFramePr>
          <p:cNvPr id="86" name="Google Shape;86;p13"/>
          <p:cNvGraphicFramePr/>
          <p:nvPr/>
        </p:nvGraphicFramePr>
        <p:xfrm>
          <a:off x="2700150" y="731603"/>
          <a:ext cx="8009000" cy="6025630"/>
        </p:xfrm>
        <a:graphic>
          <a:graphicData uri="http://schemas.openxmlformats.org/drawingml/2006/table">
            <a:tbl>
              <a:tblPr>
                <a:noFill/>
                <a:tableStyleId>{09D26DDB-0AB3-4B55-984C-C8273E174064}</a:tableStyleId>
              </a:tblPr>
              <a:tblGrid>
                <a:gridCol w="1289175">
                  <a:extLst>
                    <a:ext uri="{9D8B030D-6E8A-4147-A177-3AD203B41FA5}">
                      <a16:colId xmlns:a16="http://schemas.microsoft.com/office/drawing/2014/main" val="20000"/>
                    </a:ext>
                  </a:extLst>
                </a:gridCol>
                <a:gridCol w="5370925">
                  <a:extLst>
                    <a:ext uri="{9D8B030D-6E8A-4147-A177-3AD203B41FA5}">
                      <a16:colId xmlns:a16="http://schemas.microsoft.com/office/drawing/2014/main" val="20001"/>
                    </a:ext>
                  </a:extLst>
                </a:gridCol>
                <a:gridCol w="1348900">
                  <a:extLst>
                    <a:ext uri="{9D8B030D-6E8A-4147-A177-3AD203B41FA5}">
                      <a16:colId xmlns:a16="http://schemas.microsoft.com/office/drawing/2014/main" val="20002"/>
                    </a:ext>
                  </a:extLst>
                </a:gridCol>
              </a:tblGrid>
              <a:tr h="426700">
                <a:tc>
                  <a:txBody>
                    <a:bodyPr/>
                    <a:lstStyle/>
                    <a:p>
                      <a:pPr marL="0" lvl="0" indent="0" algn="ctr" rtl="0">
                        <a:spcBef>
                          <a:spcPts val="0"/>
                        </a:spcBef>
                        <a:spcAft>
                          <a:spcPts val="0"/>
                        </a:spcAft>
                        <a:buNone/>
                      </a:pPr>
                      <a:r>
                        <a:rPr lang="en-US" sz="1600">
                          <a:solidFill>
                            <a:schemeClr val="dk1"/>
                          </a:solidFill>
                          <a:latin typeface="Quicksand"/>
                          <a:ea typeface="Quicksand"/>
                          <a:cs typeface="Quicksand"/>
                          <a:sym typeface="Quicksand"/>
                        </a:rPr>
                        <a:t>Sr. No</a:t>
                      </a:r>
                      <a:endParaRPr sz="1600">
                        <a:solidFill>
                          <a:schemeClr val="dk1"/>
                        </a:solidFill>
                        <a:latin typeface="Quicksand"/>
                        <a:ea typeface="Quicksand"/>
                        <a:cs typeface="Quicksand"/>
                        <a:sym typeface="Quicksand"/>
                      </a:endParaRPr>
                    </a:p>
                  </a:txBody>
                  <a:tcPr marL="91425" marR="91425" marT="91425" marB="91425">
                    <a:lnL w="19050" cap="flat" cmpd="sng">
                      <a:solidFill>
                        <a:srgbClr val="999999"/>
                      </a:solidFill>
                      <a:prstDash val="solid"/>
                      <a:round/>
                      <a:headEnd type="none" w="sm" len="sm"/>
                      <a:tailEnd type="none" w="sm" len="sm"/>
                    </a:lnL>
                    <a:lnR w="19050" cap="flat" cmpd="sng">
                      <a:solidFill>
                        <a:srgbClr val="999999"/>
                      </a:solidFill>
                      <a:prstDash val="solid"/>
                      <a:round/>
                      <a:headEnd type="none" w="sm" len="sm"/>
                      <a:tailEnd type="none" w="sm" len="sm"/>
                    </a:lnR>
                    <a:lnT w="19050"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D9D9D9"/>
                    </a:solidFill>
                  </a:tcPr>
                </a:tc>
                <a:tc>
                  <a:txBody>
                    <a:bodyPr/>
                    <a:lstStyle/>
                    <a:p>
                      <a:pPr marL="0" lvl="0" indent="0" algn="ctr" rtl="0">
                        <a:spcBef>
                          <a:spcPts val="0"/>
                        </a:spcBef>
                        <a:spcAft>
                          <a:spcPts val="0"/>
                        </a:spcAft>
                        <a:buNone/>
                      </a:pPr>
                      <a:r>
                        <a:rPr lang="en-US" sz="1600">
                          <a:solidFill>
                            <a:schemeClr val="dk1"/>
                          </a:solidFill>
                          <a:latin typeface="Quicksand"/>
                          <a:ea typeface="Quicksand"/>
                          <a:cs typeface="Quicksand"/>
                          <a:sym typeface="Quicksand"/>
                        </a:rPr>
                        <a:t>Table Of Contents</a:t>
                      </a:r>
                      <a:endParaRPr sz="1600">
                        <a:solidFill>
                          <a:schemeClr val="dk1"/>
                        </a:solidFill>
                        <a:latin typeface="Quicksand"/>
                        <a:ea typeface="Quicksand"/>
                        <a:cs typeface="Quicksand"/>
                        <a:sym typeface="Quicksand"/>
                      </a:endParaRPr>
                    </a:p>
                  </a:txBody>
                  <a:tcPr marL="91425" marR="91425" marT="91425" marB="91425">
                    <a:lnL w="19050" cap="flat" cmpd="sng">
                      <a:solidFill>
                        <a:srgbClr val="999999"/>
                      </a:solidFill>
                      <a:prstDash val="solid"/>
                      <a:round/>
                      <a:headEnd type="none" w="sm" len="sm"/>
                      <a:tailEnd type="none" w="sm" len="sm"/>
                    </a:lnL>
                    <a:lnR w="19050" cap="flat" cmpd="sng">
                      <a:solidFill>
                        <a:srgbClr val="999999"/>
                      </a:solidFill>
                      <a:prstDash val="solid"/>
                      <a:round/>
                      <a:headEnd type="none" w="sm" len="sm"/>
                      <a:tailEnd type="none" w="sm" len="sm"/>
                    </a:lnR>
                    <a:lnT w="19050"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D9D9D9"/>
                    </a:solidFill>
                  </a:tcPr>
                </a:tc>
                <a:tc>
                  <a:txBody>
                    <a:bodyPr/>
                    <a:lstStyle/>
                    <a:p>
                      <a:pPr marL="0" lvl="0" indent="0" algn="ctr" rtl="0">
                        <a:spcBef>
                          <a:spcPts val="0"/>
                        </a:spcBef>
                        <a:spcAft>
                          <a:spcPts val="0"/>
                        </a:spcAft>
                        <a:buNone/>
                      </a:pPr>
                      <a:r>
                        <a:rPr lang="en-US" sz="1600">
                          <a:solidFill>
                            <a:schemeClr val="dk1"/>
                          </a:solidFill>
                          <a:latin typeface="Quicksand"/>
                          <a:ea typeface="Quicksand"/>
                          <a:cs typeface="Quicksand"/>
                          <a:sym typeface="Quicksand"/>
                        </a:rPr>
                        <a:t>Page. No</a:t>
                      </a:r>
                      <a:endParaRPr sz="1600">
                        <a:solidFill>
                          <a:schemeClr val="dk1"/>
                        </a:solidFill>
                        <a:latin typeface="Quicksand"/>
                        <a:ea typeface="Quicksand"/>
                        <a:cs typeface="Quicksand"/>
                        <a:sym typeface="Quicksand"/>
                      </a:endParaRPr>
                    </a:p>
                  </a:txBody>
                  <a:tcPr marL="91425" marR="91425" marT="91425" marB="91425">
                    <a:lnL w="19050" cap="flat" cmpd="sng">
                      <a:solidFill>
                        <a:srgbClr val="999999"/>
                      </a:solidFill>
                      <a:prstDash val="solid"/>
                      <a:round/>
                      <a:headEnd type="none" w="sm" len="sm"/>
                      <a:tailEnd type="none" w="sm" len="sm"/>
                    </a:lnL>
                    <a:lnR w="19050" cap="flat" cmpd="sng">
                      <a:solidFill>
                        <a:srgbClr val="999999"/>
                      </a:solidFill>
                      <a:prstDash val="solid"/>
                      <a:round/>
                      <a:headEnd type="none" w="sm" len="sm"/>
                      <a:tailEnd type="none" w="sm" len="sm"/>
                    </a:lnR>
                    <a:lnT w="19050"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D9D9D9"/>
                    </a:solidFill>
                  </a:tcPr>
                </a:tc>
                <a:extLst>
                  <a:ext uri="{0D108BD9-81ED-4DB2-BD59-A6C34878D82A}">
                    <a16:rowId xmlns:a16="http://schemas.microsoft.com/office/drawing/2014/main" val="10000"/>
                  </a:ext>
                </a:extLst>
              </a:tr>
              <a:tr h="380975">
                <a:tc>
                  <a:txBody>
                    <a:bodyPr/>
                    <a:lstStyle/>
                    <a:p>
                      <a:pPr marL="0" lvl="0" indent="0" algn="ctr" rtl="0">
                        <a:spcBef>
                          <a:spcPts val="0"/>
                        </a:spcBef>
                        <a:spcAft>
                          <a:spcPts val="0"/>
                        </a:spcAft>
                        <a:buNone/>
                      </a:pPr>
                      <a:r>
                        <a:rPr lang="en-US" sz="1300">
                          <a:solidFill>
                            <a:schemeClr val="dk1"/>
                          </a:solidFill>
                          <a:latin typeface="Playfair Display"/>
                          <a:ea typeface="Playfair Display"/>
                          <a:cs typeface="Playfair Display"/>
                          <a:sym typeface="Playfair Display"/>
                        </a:rPr>
                        <a:t>1.</a:t>
                      </a:r>
                      <a:endParaRPr sz="1300">
                        <a:solidFill>
                          <a:schemeClr val="dk1"/>
                        </a:solidFill>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latin typeface="Playfair Display"/>
                          <a:ea typeface="Playfair Display"/>
                          <a:cs typeface="Playfair Display"/>
                          <a:sym typeface="Playfair Display"/>
                        </a:rPr>
                        <a:t>Abstract</a:t>
                      </a:r>
                      <a:endParaRPr sz="1300">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80975">
                <a:tc>
                  <a:txBody>
                    <a:bodyPr/>
                    <a:lstStyle/>
                    <a:p>
                      <a:pPr marL="0" lvl="0" indent="0" algn="ctr" rtl="0">
                        <a:spcBef>
                          <a:spcPts val="0"/>
                        </a:spcBef>
                        <a:spcAft>
                          <a:spcPts val="0"/>
                        </a:spcAft>
                        <a:buNone/>
                      </a:pPr>
                      <a:r>
                        <a:rPr lang="en-US" sz="1300">
                          <a:solidFill>
                            <a:schemeClr val="dk1"/>
                          </a:solidFill>
                          <a:latin typeface="Playfair Display"/>
                          <a:ea typeface="Playfair Display"/>
                          <a:cs typeface="Playfair Display"/>
                          <a:sym typeface="Playfair Display"/>
                        </a:rPr>
                        <a:t>2.</a:t>
                      </a:r>
                      <a:endParaRPr sz="1300">
                        <a:solidFill>
                          <a:schemeClr val="dk1"/>
                        </a:solidFill>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latin typeface="Playfair Display"/>
                          <a:ea typeface="Playfair Display"/>
                          <a:cs typeface="Playfair Display"/>
                          <a:sym typeface="Playfair Display"/>
                        </a:rPr>
                        <a:t>Introduction</a:t>
                      </a:r>
                      <a:endParaRPr sz="1300">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80975">
                <a:tc>
                  <a:txBody>
                    <a:bodyPr/>
                    <a:lstStyle/>
                    <a:p>
                      <a:pPr marL="0" lvl="0" indent="0" algn="ctr" rtl="0">
                        <a:spcBef>
                          <a:spcPts val="0"/>
                        </a:spcBef>
                        <a:spcAft>
                          <a:spcPts val="0"/>
                        </a:spcAft>
                        <a:buNone/>
                      </a:pPr>
                      <a:r>
                        <a:rPr lang="en-US" sz="1300">
                          <a:solidFill>
                            <a:schemeClr val="dk1"/>
                          </a:solidFill>
                          <a:latin typeface="Playfair Display"/>
                          <a:ea typeface="Playfair Display"/>
                          <a:cs typeface="Playfair Display"/>
                          <a:sym typeface="Playfair Display"/>
                        </a:rPr>
                        <a:t>3.</a:t>
                      </a:r>
                      <a:endParaRPr sz="1300">
                        <a:solidFill>
                          <a:schemeClr val="dk1"/>
                        </a:solidFill>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solidFill>
                            <a:schemeClr val="dk1"/>
                          </a:solidFill>
                          <a:latin typeface="Playfair Display"/>
                          <a:ea typeface="Playfair Display"/>
                          <a:cs typeface="Playfair Display"/>
                          <a:sym typeface="Playfair Display"/>
                        </a:rPr>
                        <a:t>Literature Survey</a:t>
                      </a:r>
                      <a:endParaRPr sz="1300">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80975">
                <a:tc>
                  <a:txBody>
                    <a:bodyPr/>
                    <a:lstStyle/>
                    <a:p>
                      <a:pPr marL="0" lvl="0" indent="0" algn="ctr" rtl="0">
                        <a:spcBef>
                          <a:spcPts val="0"/>
                        </a:spcBef>
                        <a:spcAft>
                          <a:spcPts val="0"/>
                        </a:spcAft>
                        <a:buNone/>
                      </a:pPr>
                      <a:r>
                        <a:rPr lang="en-US" sz="1300">
                          <a:solidFill>
                            <a:schemeClr val="dk1"/>
                          </a:solidFill>
                          <a:latin typeface="Playfair Display"/>
                          <a:ea typeface="Playfair Display"/>
                          <a:cs typeface="Playfair Display"/>
                          <a:sym typeface="Playfair Display"/>
                        </a:rPr>
                        <a:t>4.</a:t>
                      </a:r>
                      <a:endParaRPr sz="1300">
                        <a:solidFill>
                          <a:schemeClr val="dk1"/>
                        </a:solidFill>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solidFill>
                            <a:schemeClr val="dk1"/>
                          </a:solidFill>
                          <a:latin typeface="Playfair Display"/>
                          <a:ea typeface="Playfair Display"/>
                          <a:cs typeface="Playfair Display"/>
                          <a:sym typeface="Playfair Display"/>
                        </a:rPr>
                        <a:t>Research Gap</a:t>
                      </a:r>
                      <a:endParaRPr sz="1300">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80975">
                <a:tc>
                  <a:txBody>
                    <a:bodyPr/>
                    <a:lstStyle/>
                    <a:p>
                      <a:pPr marL="0" lvl="0" indent="0" algn="ctr" rtl="0">
                        <a:spcBef>
                          <a:spcPts val="0"/>
                        </a:spcBef>
                        <a:spcAft>
                          <a:spcPts val="0"/>
                        </a:spcAft>
                        <a:buNone/>
                      </a:pPr>
                      <a:r>
                        <a:rPr lang="en-US" sz="1300">
                          <a:solidFill>
                            <a:schemeClr val="dk1"/>
                          </a:solidFill>
                          <a:latin typeface="Playfair Display"/>
                          <a:ea typeface="Playfair Display"/>
                          <a:cs typeface="Playfair Display"/>
                          <a:sym typeface="Playfair Display"/>
                        </a:rPr>
                        <a:t>5.</a:t>
                      </a:r>
                      <a:endParaRPr sz="1300">
                        <a:solidFill>
                          <a:schemeClr val="dk1"/>
                        </a:solidFill>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latin typeface="Playfair Display"/>
                          <a:ea typeface="Playfair Display"/>
                          <a:cs typeface="Playfair Display"/>
                          <a:sym typeface="Playfair Display"/>
                        </a:rPr>
                        <a:t>Problem Statement</a:t>
                      </a:r>
                      <a:endParaRPr sz="1300">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80975">
                <a:tc>
                  <a:txBody>
                    <a:bodyPr/>
                    <a:lstStyle/>
                    <a:p>
                      <a:pPr marL="0" lvl="0" indent="0" algn="ctr" rtl="0">
                        <a:spcBef>
                          <a:spcPts val="0"/>
                        </a:spcBef>
                        <a:spcAft>
                          <a:spcPts val="0"/>
                        </a:spcAft>
                        <a:buNone/>
                      </a:pPr>
                      <a:r>
                        <a:rPr lang="en-US" sz="1300">
                          <a:solidFill>
                            <a:schemeClr val="dk1"/>
                          </a:solidFill>
                          <a:latin typeface="Playfair Display"/>
                          <a:ea typeface="Playfair Display"/>
                          <a:cs typeface="Playfair Display"/>
                          <a:sym typeface="Playfair Display"/>
                        </a:rPr>
                        <a:t>6.</a:t>
                      </a:r>
                      <a:endParaRPr sz="1300">
                        <a:solidFill>
                          <a:schemeClr val="dk1"/>
                        </a:solidFill>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latin typeface="Playfair Display"/>
                          <a:ea typeface="Playfair Display"/>
                          <a:cs typeface="Playfair Display"/>
                          <a:sym typeface="Playfair Display"/>
                        </a:rPr>
                        <a:t>Objective</a:t>
                      </a:r>
                      <a:endParaRPr sz="1300">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80975">
                <a:tc>
                  <a:txBody>
                    <a:bodyPr/>
                    <a:lstStyle/>
                    <a:p>
                      <a:pPr marL="0" lvl="0" indent="0" algn="ctr" rtl="0">
                        <a:spcBef>
                          <a:spcPts val="0"/>
                        </a:spcBef>
                        <a:spcAft>
                          <a:spcPts val="0"/>
                        </a:spcAft>
                        <a:buNone/>
                      </a:pPr>
                      <a:r>
                        <a:rPr lang="en-US" sz="1300">
                          <a:solidFill>
                            <a:schemeClr val="dk1"/>
                          </a:solidFill>
                          <a:latin typeface="Playfair Display"/>
                          <a:ea typeface="Playfair Display"/>
                          <a:cs typeface="Playfair Display"/>
                          <a:sym typeface="Playfair Display"/>
                        </a:rPr>
                        <a:t>7.</a:t>
                      </a:r>
                      <a:endParaRPr sz="1300">
                        <a:solidFill>
                          <a:schemeClr val="dk1"/>
                        </a:solidFill>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latin typeface="Playfair Display"/>
                          <a:ea typeface="Playfair Display"/>
                          <a:cs typeface="Playfair Display"/>
                          <a:sym typeface="Playfair Display"/>
                        </a:rPr>
                        <a:t>Scope</a:t>
                      </a:r>
                      <a:endParaRPr sz="1300">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380975">
                <a:tc>
                  <a:txBody>
                    <a:bodyPr/>
                    <a:lstStyle/>
                    <a:p>
                      <a:pPr marL="0" lvl="0" indent="0" algn="ctr" rtl="0">
                        <a:spcBef>
                          <a:spcPts val="0"/>
                        </a:spcBef>
                        <a:spcAft>
                          <a:spcPts val="0"/>
                        </a:spcAft>
                        <a:buNone/>
                      </a:pPr>
                      <a:r>
                        <a:rPr lang="en-US" sz="1300">
                          <a:solidFill>
                            <a:schemeClr val="dk1"/>
                          </a:solidFill>
                          <a:latin typeface="Playfair Display"/>
                          <a:ea typeface="Playfair Display"/>
                          <a:cs typeface="Playfair Display"/>
                          <a:sym typeface="Playfair Display"/>
                        </a:rPr>
                        <a:t>8.</a:t>
                      </a:r>
                      <a:endParaRPr sz="1300">
                        <a:solidFill>
                          <a:schemeClr val="dk1"/>
                        </a:solidFill>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solidFill>
                            <a:schemeClr val="dk1"/>
                          </a:solidFill>
                          <a:latin typeface="Playfair Display"/>
                          <a:ea typeface="Playfair Display"/>
                          <a:cs typeface="Playfair Display"/>
                          <a:sym typeface="Playfair Display"/>
                        </a:rPr>
                        <a:t>SRS</a:t>
                      </a:r>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r h="404875">
                <a:tc>
                  <a:txBody>
                    <a:bodyPr/>
                    <a:lstStyle/>
                    <a:p>
                      <a:pPr marL="0" lvl="0" indent="0" algn="ctr" rtl="0">
                        <a:spcBef>
                          <a:spcPts val="0"/>
                        </a:spcBef>
                        <a:spcAft>
                          <a:spcPts val="0"/>
                        </a:spcAft>
                        <a:buNone/>
                      </a:pPr>
                      <a:r>
                        <a:rPr lang="en-US" sz="1300">
                          <a:solidFill>
                            <a:schemeClr val="dk1"/>
                          </a:solidFill>
                          <a:latin typeface="Playfair Display"/>
                          <a:ea typeface="Playfair Display"/>
                          <a:cs typeface="Playfair Display"/>
                          <a:sym typeface="Playfair Display"/>
                        </a:rPr>
                        <a:t>9.</a:t>
                      </a:r>
                      <a:endParaRPr sz="1300">
                        <a:solidFill>
                          <a:schemeClr val="dk1"/>
                        </a:solidFill>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latin typeface="Playfair Display"/>
                          <a:ea typeface="Playfair Display"/>
                          <a:cs typeface="Playfair Display"/>
                          <a:sym typeface="Playfair Display"/>
                        </a:rPr>
                        <a:t>Proposed Architecture</a:t>
                      </a:r>
                      <a:endParaRPr sz="1300">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9"/>
                  </a:ext>
                </a:extLst>
              </a:tr>
              <a:tr h="404875">
                <a:tc>
                  <a:txBody>
                    <a:bodyPr/>
                    <a:lstStyle/>
                    <a:p>
                      <a:pPr marL="0" lvl="0" indent="0" algn="ctr" rtl="0">
                        <a:spcBef>
                          <a:spcPts val="0"/>
                        </a:spcBef>
                        <a:spcAft>
                          <a:spcPts val="0"/>
                        </a:spcAft>
                        <a:buNone/>
                      </a:pPr>
                      <a:r>
                        <a:rPr lang="en-US" sz="1300">
                          <a:solidFill>
                            <a:schemeClr val="dk1"/>
                          </a:solidFill>
                          <a:latin typeface="Playfair Display"/>
                          <a:ea typeface="Playfair Display"/>
                          <a:cs typeface="Playfair Display"/>
                          <a:sym typeface="Playfair Display"/>
                        </a:rPr>
                        <a:t>10.</a:t>
                      </a:r>
                      <a:endParaRPr sz="1300">
                        <a:solidFill>
                          <a:schemeClr val="dk1"/>
                        </a:solidFill>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US" sz="1300">
                          <a:solidFill>
                            <a:schemeClr val="dk1"/>
                          </a:solidFill>
                          <a:latin typeface="Playfair Display"/>
                          <a:ea typeface="Playfair Display"/>
                          <a:cs typeface="Playfair Display"/>
                          <a:sym typeface="Playfair Display"/>
                        </a:rPr>
                        <a:t>Activity Diagram</a:t>
                      </a:r>
                      <a:endParaRPr sz="1300">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10"/>
                  </a:ext>
                </a:extLst>
              </a:tr>
              <a:tr h="404875">
                <a:tc>
                  <a:txBody>
                    <a:bodyPr/>
                    <a:lstStyle/>
                    <a:p>
                      <a:pPr marL="0" lvl="0" indent="0" algn="ctr" rtl="0">
                        <a:spcBef>
                          <a:spcPts val="0"/>
                        </a:spcBef>
                        <a:spcAft>
                          <a:spcPts val="0"/>
                        </a:spcAft>
                        <a:buNone/>
                      </a:pPr>
                      <a:r>
                        <a:rPr lang="en-US" sz="1300">
                          <a:solidFill>
                            <a:schemeClr val="dk1"/>
                          </a:solidFill>
                          <a:latin typeface="Playfair Display"/>
                          <a:ea typeface="Playfair Display"/>
                          <a:cs typeface="Playfair Display"/>
                          <a:sym typeface="Playfair Display"/>
                        </a:rPr>
                        <a:t>11.</a:t>
                      </a:r>
                      <a:endParaRPr sz="1300">
                        <a:solidFill>
                          <a:schemeClr val="dk1"/>
                        </a:solidFill>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US" sz="1300">
                          <a:solidFill>
                            <a:schemeClr val="dk1"/>
                          </a:solidFill>
                          <a:latin typeface="Playfair Display"/>
                          <a:ea typeface="Playfair Display"/>
                          <a:cs typeface="Playfair Display"/>
                          <a:sym typeface="Playfair Display"/>
                        </a:rPr>
                        <a:t>Use case Daigram</a:t>
                      </a:r>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11"/>
                  </a:ext>
                </a:extLst>
              </a:tr>
              <a:tr h="404875">
                <a:tc>
                  <a:txBody>
                    <a:bodyPr/>
                    <a:lstStyle/>
                    <a:p>
                      <a:pPr marL="0" lvl="0" indent="0" algn="ctr" rtl="0">
                        <a:spcBef>
                          <a:spcPts val="0"/>
                        </a:spcBef>
                        <a:spcAft>
                          <a:spcPts val="0"/>
                        </a:spcAft>
                        <a:buNone/>
                      </a:pPr>
                      <a:r>
                        <a:rPr lang="en-US" sz="1300">
                          <a:solidFill>
                            <a:schemeClr val="dk1"/>
                          </a:solidFill>
                          <a:latin typeface="Playfair Display"/>
                          <a:ea typeface="Playfair Display"/>
                          <a:cs typeface="Playfair Display"/>
                          <a:sym typeface="Playfair Display"/>
                        </a:rPr>
                        <a:t>12.</a:t>
                      </a:r>
                      <a:endParaRPr sz="1300">
                        <a:solidFill>
                          <a:schemeClr val="dk1"/>
                        </a:solidFill>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US" sz="1300">
                          <a:solidFill>
                            <a:schemeClr val="dk1"/>
                          </a:solidFill>
                          <a:latin typeface="Playfair Display"/>
                          <a:ea typeface="Playfair Display"/>
                          <a:cs typeface="Playfair Display"/>
                          <a:sym typeface="Playfair Display"/>
                        </a:rPr>
                        <a:t>Software And Hardware Requirements</a:t>
                      </a:r>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12"/>
                  </a:ext>
                </a:extLst>
              </a:tr>
              <a:tr h="404875">
                <a:tc>
                  <a:txBody>
                    <a:bodyPr/>
                    <a:lstStyle/>
                    <a:p>
                      <a:pPr marL="0" lvl="0" indent="0" algn="ctr" rtl="0">
                        <a:spcBef>
                          <a:spcPts val="0"/>
                        </a:spcBef>
                        <a:spcAft>
                          <a:spcPts val="0"/>
                        </a:spcAft>
                        <a:buNone/>
                      </a:pPr>
                      <a:r>
                        <a:rPr lang="en-US" sz="1300">
                          <a:solidFill>
                            <a:schemeClr val="dk1"/>
                          </a:solidFill>
                          <a:latin typeface="Playfair Display"/>
                          <a:ea typeface="Playfair Display"/>
                          <a:cs typeface="Playfair Display"/>
                          <a:sym typeface="Playfair Display"/>
                        </a:rPr>
                        <a:t>13..</a:t>
                      </a:r>
                      <a:endParaRPr sz="1300">
                        <a:solidFill>
                          <a:schemeClr val="dk1"/>
                        </a:solidFill>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latin typeface="Playfair Display"/>
                          <a:ea typeface="Playfair Display"/>
                          <a:cs typeface="Playfair Display"/>
                          <a:sym typeface="Playfair Display"/>
                        </a:rPr>
                        <a:t>Conclusion</a:t>
                      </a:r>
                      <a:endParaRPr sz="1300">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13"/>
                  </a:ext>
                </a:extLst>
              </a:tr>
              <a:tr h="404875">
                <a:tc>
                  <a:txBody>
                    <a:bodyPr/>
                    <a:lstStyle/>
                    <a:p>
                      <a:pPr marL="0" lvl="0" indent="0" algn="ctr" rtl="0">
                        <a:spcBef>
                          <a:spcPts val="0"/>
                        </a:spcBef>
                        <a:spcAft>
                          <a:spcPts val="0"/>
                        </a:spcAft>
                        <a:buNone/>
                      </a:pPr>
                      <a:r>
                        <a:rPr lang="en-US" sz="1300">
                          <a:solidFill>
                            <a:schemeClr val="dk1"/>
                          </a:solidFill>
                          <a:latin typeface="Playfair Display"/>
                          <a:ea typeface="Playfair Display"/>
                          <a:cs typeface="Playfair Display"/>
                          <a:sym typeface="Playfair Display"/>
                        </a:rPr>
                        <a:t>14.</a:t>
                      </a:r>
                      <a:endParaRPr sz="1300">
                        <a:solidFill>
                          <a:schemeClr val="dk1"/>
                        </a:solidFill>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latin typeface="Playfair Display"/>
                          <a:ea typeface="Playfair Display"/>
                          <a:cs typeface="Playfair Display"/>
                          <a:sym typeface="Playfair Display"/>
                        </a:rPr>
                        <a:t>Reference</a:t>
                      </a:r>
                      <a:endParaRPr sz="1300">
                        <a:latin typeface="Playfair Display"/>
                        <a:ea typeface="Playfair Display"/>
                        <a:cs typeface="Playfair Display"/>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14"/>
                  </a:ext>
                </a:extLst>
              </a:tr>
            </a:tbl>
          </a:graphicData>
        </a:graphic>
      </p:graphicFrame>
      <p:pic>
        <p:nvPicPr>
          <p:cNvPr id="87" name="Google Shape;87;p13"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88" name="Google Shape;88;p1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4"/>
          <p:cNvSpPr txBox="1"/>
          <p:nvPr/>
        </p:nvSpPr>
        <p:spPr>
          <a:xfrm>
            <a:off x="5014200" y="340175"/>
            <a:ext cx="20886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600" b="1">
                <a:latin typeface="Nunito"/>
                <a:ea typeface="Nunito"/>
                <a:cs typeface="Nunito"/>
                <a:sym typeface="Nunito"/>
              </a:rPr>
              <a:t>Abstract</a:t>
            </a:r>
            <a:endParaRPr sz="3600" b="1">
              <a:latin typeface="Nunito"/>
              <a:ea typeface="Nunito"/>
              <a:cs typeface="Nunito"/>
              <a:sym typeface="Nunito"/>
            </a:endParaRPr>
          </a:p>
        </p:txBody>
      </p:sp>
      <p:sp>
        <p:nvSpPr>
          <p:cNvPr id="94" name="Google Shape;94;p14"/>
          <p:cNvSpPr txBox="1"/>
          <p:nvPr/>
        </p:nvSpPr>
        <p:spPr>
          <a:xfrm>
            <a:off x="438150" y="1123575"/>
            <a:ext cx="11558700" cy="4616618"/>
          </a:xfrm>
          <a:prstGeom prst="rect">
            <a:avLst/>
          </a:prstGeom>
          <a:noFill/>
          <a:ln>
            <a:noFill/>
          </a:ln>
        </p:spPr>
        <p:txBody>
          <a:bodyPr spcFirstLastPara="1" wrap="square" lIns="91425" tIns="91425" rIns="91425" bIns="91425" anchor="t" anchorCtr="0">
            <a:spAutoFit/>
          </a:bodyPr>
          <a:lstStyle/>
          <a:p>
            <a:pPr marL="457200" lvl="0" indent="-330200" algn="just" rtl="0">
              <a:lnSpc>
                <a:spcPct val="200000"/>
              </a:lnSpc>
              <a:spcBef>
                <a:spcPts val="0"/>
              </a:spcBef>
              <a:spcAft>
                <a:spcPts val="0"/>
              </a:spcAft>
              <a:buClr>
                <a:schemeClr val="dk1"/>
              </a:buClr>
              <a:buSzPts val="1600"/>
              <a:buFont typeface="Montserrat"/>
              <a:buChar char="●"/>
            </a:pPr>
            <a:r>
              <a:rPr lang="en-US" sz="1600" dirty="0">
                <a:solidFill>
                  <a:schemeClr val="dk1"/>
                </a:solidFill>
                <a:latin typeface="Montserrat"/>
                <a:ea typeface="Montserrat"/>
                <a:cs typeface="Montserrat"/>
                <a:sym typeface="Montserrat"/>
              </a:rPr>
              <a:t>This project proposes the development of an AI-driven football analysis system that utilizes cutting-edge computer vision techniques and deep learning algorithms. The system is designed to automatically detect and track players and the ball during a football match, employing the YOLO framework for rapid object detection and OpenCV for robust image processing. By processing live or recorded match footage, the platform generates detailed metrics related to player positioning, movement patterns, and overall team strategy. The integration of deep learning models allows the system to adapt to various game conditions and enhance its predictive accuracy over time. Ultimately, this automated approach to sports analytics aims to reduce the dependency on manual review and provide coaches and sports analysts with real-time, data-driven insights to inform tactical decisions and performance improvements</a:t>
            </a:r>
            <a:endParaRPr sz="1600" dirty="0">
              <a:latin typeface="Montserrat"/>
              <a:ea typeface="Montserrat"/>
              <a:cs typeface="Montserrat"/>
              <a:sym typeface="Montserrat"/>
            </a:endParaRPr>
          </a:p>
        </p:txBody>
      </p:sp>
      <p:pic>
        <p:nvPicPr>
          <p:cNvPr id="95" name="Google Shape;95;p14"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96" name="Google Shape;96;p14"/>
          <p:cNvSpPr txBox="1">
            <a:spLocks noGrp="1"/>
          </p:cNvSpPr>
          <p:nvPr>
            <p:ph type="sldNum" idx="12"/>
          </p:nvPr>
        </p:nvSpPr>
        <p:spPr>
          <a:xfrm>
            <a:off x="8610600" y="6374638"/>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5"/>
          <p:cNvSpPr txBox="1"/>
          <p:nvPr/>
        </p:nvSpPr>
        <p:spPr>
          <a:xfrm>
            <a:off x="4703850" y="332025"/>
            <a:ext cx="27843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600" b="1">
                <a:latin typeface="Nunito"/>
                <a:ea typeface="Nunito"/>
                <a:cs typeface="Nunito"/>
                <a:sym typeface="Nunito"/>
              </a:rPr>
              <a:t>Introduction</a:t>
            </a:r>
            <a:endParaRPr sz="3600" b="1">
              <a:latin typeface="Nunito"/>
              <a:ea typeface="Nunito"/>
              <a:cs typeface="Nunito"/>
              <a:sym typeface="Nunito"/>
            </a:endParaRPr>
          </a:p>
        </p:txBody>
      </p:sp>
      <p:sp>
        <p:nvSpPr>
          <p:cNvPr id="102" name="Google Shape;102;p15"/>
          <p:cNvSpPr txBox="1"/>
          <p:nvPr/>
        </p:nvSpPr>
        <p:spPr>
          <a:xfrm>
            <a:off x="309575" y="1083850"/>
            <a:ext cx="11415600" cy="4339619"/>
          </a:xfrm>
          <a:prstGeom prst="rect">
            <a:avLst/>
          </a:prstGeom>
          <a:noFill/>
          <a:ln>
            <a:noFill/>
          </a:ln>
        </p:spPr>
        <p:txBody>
          <a:bodyPr spcFirstLastPara="1" wrap="square" lIns="91425" tIns="91425" rIns="91425" bIns="91425" anchor="t" anchorCtr="0">
            <a:spAutoFit/>
          </a:bodyPr>
          <a:lstStyle/>
          <a:p>
            <a:pPr marL="457200" lvl="0" indent="-323850" algn="just" rtl="0">
              <a:lnSpc>
                <a:spcPct val="200000"/>
              </a:lnSpc>
              <a:spcBef>
                <a:spcPts val="0"/>
              </a:spcBef>
              <a:spcAft>
                <a:spcPts val="0"/>
              </a:spcAft>
              <a:buClr>
                <a:schemeClr val="dk1"/>
              </a:buClr>
              <a:buSzPts val="1500"/>
              <a:buFont typeface="Montserrat"/>
              <a:buChar char="●"/>
            </a:pPr>
            <a:r>
              <a:rPr lang="en-US" sz="1500" dirty="0">
                <a:solidFill>
                  <a:schemeClr val="dk1"/>
                </a:solidFill>
                <a:latin typeface="Montserrat"/>
                <a:ea typeface="Montserrat"/>
                <a:cs typeface="Montserrat"/>
                <a:sym typeface="Montserrat"/>
              </a:rPr>
              <a:t>The growing intersection of artificial intelligence, computer vision, and sports analytics has opened new avenues for automating performance evaluation in football. Traditional methods of video analysis are labor-intensive and prone to human error. By harnessing advanced object detection algorithms such as YOLO (You Only Look Once) and integrating them with powerful image processing libraries like OpenCV, modern systems are capable of real-time tracking and analysis of key game elements—such as players, ball trajectories, and tactical formations. This project aims to leverage these technologies to develop a comprehensive football analysis platform that not only streamlines the data acquisition process but also provides actionable insights for coaches, analysts, and players. The system’s design is rooted in deep learning methods that improve over time with more data, ensuring that the analysis remains accurate and contextually relevant during fast-paced match scenarios </a:t>
            </a:r>
          </a:p>
        </p:txBody>
      </p:sp>
      <p:pic>
        <p:nvPicPr>
          <p:cNvPr id="103" name="Google Shape;103;p15"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04" name="Google Shape;104;p1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a:t>
            </a:fld>
            <a:endParaRPr/>
          </a:p>
        </p:txBody>
      </p:sp>
      <p:sp>
        <p:nvSpPr>
          <p:cNvPr id="110" name="Google Shape;110;p16"/>
          <p:cNvSpPr txBox="1"/>
          <p:nvPr/>
        </p:nvSpPr>
        <p:spPr>
          <a:xfrm>
            <a:off x="4555050" y="81750"/>
            <a:ext cx="3081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a:latin typeface="Nunito"/>
                <a:ea typeface="Nunito"/>
                <a:cs typeface="Nunito"/>
                <a:sym typeface="Nunito"/>
              </a:rPr>
              <a:t>Literature Survey</a:t>
            </a:r>
            <a:endParaRPr sz="2800" b="1">
              <a:latin typeface="Nunito"/>
              <a:ea typeface="Nunito"/>
              <a:cs typeface="Nunito"/>
              <a:sym typeface="Nunito"/>
            </a:endParaRPr>
          </a:p>
        </p:txBody>
      </p:sp>
      <p:pic>
        <p:nvPicPr>
          <p:cNvPr id="111" name="Google Shape;111;p16"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01300" y="81750"/>
            <a:ext cx="1223518" cy="723300"/>
          </a:xfrm>
          <a:prstGeom prst="rect">
            <a:avLst/>
          </a:prstGeom>
          <a:noFill/>
          <a:ln>
            <a:noFill/>
          </a:ln>
        </p:spPr>
      </p:pic>
      <p:sp>
        <p:nvSpPr>
          <p:cNvPr id="112" name="Google Shape;112;p16"/>
          <p:cNvSpPr txBox="1"/>
          <p:nvPr/>
        </p:nvSpPr>
        <p:spPr>
          <a:xfrm>
            <a:off x="729150" y="1289800"/>
            <a:ext cx="5055000" cy="203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Create a table should Consist of</a:t>
            </a:r>
            <a:endParaRPr sz="2800">
              <a:solidFill>
                <a:schemeClr val="dk1"/>
              </a:solidFill>
              <a:latin typeface="Calibri"/>
              <a:ea typeface="Calibri"/>
              <a:cs typeface="Calibri"/>
              <a:sym typeface="Calibri"/>
            </a:endParaRPr>
          </a:p>
          <a:p>
            <a:pPr marL="0" lvl="0" indent="0" algn="l" rtl="0">
              <a:spcBef>
                <a:spcPts val="0"/>
              </a:spcBef>
              <a:spcAft>
                <a:spcPts val="0"/>
              </a:spcAft>
              <a:buNone/>
            </a:pPr>
            <a:endParaRPr sz="2800">
              <a:solidFill>
                <a:schemeClr val="dk1"/>
              </a:solidFill>
              <a:latin typeface="Calibri"/>
              <a:ea typeface="Calibri"/>
              <a:cs typeface="Calibri"/>
              <a:sym typeface="Calibri"/>
            </a:endParaRPr>
          </a:p>
          <a:p>
            <a:pPr marL="0" lvl="0" indent="0" algn="l" rtl="0">
              <a:spcBef>
                <a:spcPts val="0"/>
              </a:spcBef>
              <a:spcAft>
                <a:spcPts val="0"/>
              </a:spcAft>
              <a:buNone/>
            </a:pPr>
            <a:endParaRPr sz="2800">
              <a:solidFill>
                <a:schemeClr val="dk1"/>
              </a:solidFill>
              <a:latin typeface="Calibri"/>
              <a:ea typeface="Calibri"/>
              <a:cs typeface="Calibri"/>
              <a:sym typeface="Calibri"/>
            </a:endParaRPr>
          </a:p>
        </p:txBody>
      </p:sp>
      <p:graphicFrame>
        <p:nvGraphicFramePr>
          <p:cNvPr id="113" name="Google Shape;113;p16"/>
          <p:cNvGraphicFramePr/>
          <p:nvPr/>
        </p:nvGraphicFramePr>
        <p:xfrm>
          <a:off x="952500" y="2476500"/>
          <a:ext cx="10287000" cy="1981050"/>
        </p:xfrm>
        <a:graphic>
          <a:graphicData uri="http://schemas.openxmlformats.org/drawingml/2006/table">
            <a:tbl>
              <a:tblPr>
                <a:noFill/>
                <a:tableStyleId>{09D26DDB-0AB3-4B55-984C-C8273E174064}</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1714500">
                  <a:extLst>
                    <a:ext uri="{9D8B030D-6E8A-4147-A177-3AD203B41FA5}">
                      <a16:colId xmlns:a16="http://schemas.microsoft.com/office/drawing/2014/main" val="20004"/>
                    </a:ext>
                  </a:extLst>
                </a:gridCol>
                <a:gridCol w="1714500">
                  <a:extLst>
                    <a:ext uri="{9D8B030D-6E8A-4147-A177-3AD203B41FA5}">
                      <a16:colId xmlns:a16="http://schemas.microsoft.com/office/drawing/2014/main" val="20005"/>
                    </a:ext>
                  </a:extLst>
                </a:gridCol>
              </a:tblGrid>
              <a:tr h="381000">
                <a:tc>
                  <a:txBody>
                    <a:bodyPr/>
                    <a:lstStyle/>
                    <a:p>
                      <a:pPr marL="0" lvl="0" indent="0" algn="l" rtl="0">
                        <a:spcBef>
                          <a:spcPts val="0"/>
                        </a:spcBef>
                        <a:spcAft>
                          <a:spcPts val="0"/>
                        </a:spcAft>
                        <a:buNone/>
                      </a:pPr>
                      <a:r>
                        <a:rPr lang="en-US"/>
                        <a:t>Sr No</a:t>
                      </a:r>
                      <a:endParaRPr/>
                    </a:p>
                  </a:txBody>
                  <a:tcPr marL="91425" marR="91425" marT="91425" marB="91425"/>
                </a:tc>
                <a:tc>
                  <a:txBody>
                    <a:bodyPr/>
                    <a:lstStyle/>
                    <a:p>
                      <a:pPr marL="0" lvl="0" indent="0" algn="l" rtl="0">
                        <a:spcBef>
                          <a:spcPts val="0"/>
                        </a:spcBef>
                        <a:spcAft>
                          <a:spcPts val="0"/>
                        </a:spcAft>
                        <a:buNone/>
                      </a:pPr>
                      <a:r>
                        <a:rPr lang="en-US"/>
                        <a:t>Title</a:t>
                      </a:r>
                      <a:endParaRPr/>
                    </a:p>
                  </a:txBody>
                  <a:tcPr marL="91425" marR="91425" marT="91425" marB="91425"/>
                </a:tc>
                <a:tc>
                  <a:txBody>
                    <a:bodyPr/>
                    <a:lstStyle/>
                    <a:p>
                      <a:pPr marL="0" lvl="0" indent="0" algn="l" rtl="0">
                        <a:spcBef>
                          <a:spcPts val="0"/>
                        </a:spcBef>
                        <a:spcAft>
                          <a:spcPts val="0"/>
                        </a:spcAft>
                        <a:buNone/>
                      </a:pPr>
                      <a:r>
                        <a:rPr lang="en-US"/>
                        <a:t>Author name </a:t>
                      </a:r>
                      <a:endParaRPr/>
                    </a:p>
                  </a:txBody>
                  <a:tcPr marL="91425" marR="91425" marT="91425" marB="91425"/>
                </a:tc>
                <a:tc>
                  <a:txBody>
                    <a:bodyPr/>
                    <a:lstStyle/>
                    <a:p>
                      <a:pPr marL="0" lvl="0" indent="0" algn="l" rtl="0">
                        <a:spcBef>
                          <a:spcPts val="0"/>
                        </a:spcBef>
                        <a:spcAft>
                          <a:spcPts val="0"/>
                        </a:spcAft>
                        <a:buNone/>
                      </a:pPr>
                      <a:r>
                        <a:rPr lang="en-US"/>
                        <a:t>Advantages</a:t>
                      </a:r>
                      <a:endParaRPr/>
                    </a:p>
                  </a:txBody>
                  <a:tcPr marL="91425" marR="91425" marT="91425" marB="91425"/>
                </a:tc>
                <a:tc>
                  <a:txBody>
                    <a:bodyPr/>
                    <a:lstStyle/>
                    <a:p>
                      <a:pPr marL="0" lvl="0" indent="0" algn="l" rtl="0">
                        <a:spcBef>
                          <a:spcPts val="0"/>
                        </a:spcBef>
                        <a:spcAft>
                          <a:spcPts val="0"/>
                        </a:spcAft>
                        <a:buNone/>
                      </a:pPr>
                      <a:r>
                        <a:rPr lang="en-US"/>
                        <a:t>Limitation</a:t>
                      </a:r>
                      <a:endParaRPr/>
                    </a:p>
                  </a:txBody>
                  <a:tcPr marL="91425" marR="91425" marT="91425" marB="91425"/>
                </a:tc>
                <a:tc>
                  <a:txBody>
                    <a:bodyPr/>
                    <a:lstStyle/>
                    <a:p>
                      <a:pPr marL="0" lvl="0" indent="0" algn="l" rtl="0">
                        <a:spcBef>
                          <a:spcPts val="0"/>
                        </a:spcBef>
                        <a:spcAft>
                          <a:spcPts val="0"/>
                        </a:spcAft>
                        <a:buNone/>
                      </a:pPr>
                      <a:r>
                        <a:rPr lang="en-US"/>
                        <a:t>Research Gap</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Research Gap:</a:t>
            </a:r>
            <a:endParaRPr/>
          </a:p>
        </p:txBody>
      </p:sp>
      <p:sp>
        <p:nvSpPr>
          <p:cNvPr id="119" name="Google Shape;119;p1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85000" lnSpcReduction="10000"/>
          </a:bodyPr>
          <a:lstStyle/>
          <a:p>
            <a:pPr marL="0" lvl="0" indent="0" algn="l" rtl="0">
              <a:spcBef>
                <a:spcPts val="1000"/>
              </a:spcBef>
              <a:spcAft>
                <a:spcPts val="0"/>
              </a:spcAft>
              <a:buNone/>
            </a:pPr>
            <a:r>
              <a:rPr lang="en-US" dirty="0"/>
              <a:t>Identified Research Gaps:</a:t>
            </a:r>
          </a:p>
          <a:p>
            <a:pPr indent="-457200"/>
            <a:r>
              <a:rPr lang="en-US" dirty="0"/>
              <a:t>Manual Effort: Time-consuming and prone to errors due to human intervention.</a:t>
            </a:r>
          </a:p>
          <a:p>
            <a:pPr indent="-457200"/>
            <a:r>
              <a:rPr lang="en-US" dirty="0"/>
              <a:t>Limited AI Integration: Inadequate use of advanced AI models like YOLO for detecting and tracking players and ball.</a:t>
            </a:r>
          </a:p>
          <a:p>
            <a:pPr indent="-457200"/>
            <a:r>
              <a:rPr lang="en-US" dirty="0"/>
              <a:t>Team Classification: Poor clustering methods for identifying team players by t-shirt colors.</a:t>
            </a:r>
          </a:p>
          <a:p>
            <a:pPr indent="-457200"/>
            <a:r>
              <a:rPr lang="en-US" dirty="0"/>
              <a:t>Incomplete Analytics: No accurate distance, speed, or ball possession tracking.</a:t>
            </a:r>
          </a:p>
          <a:p>
            <a:pPr indent="-457200"/>
            <a:r>
              <a:rPr lang="en-US" dirty="0"/>
              <a:t>Cost Constraints: Existing solutions are expensive for small clubs or academies.</a:t>
            </a:r>
          </a:p>
          <a:p>
            <a:pPr indent="-457200"/>
            <a:r>
              <a:rPr lang="en-US" dirty="0"/>
              <a:t>Perspective Challenges: Lack of accurate measurement in real-world dimensions</a:t>
            </a:r>
          </a:p>
        </p:txBody>
      </p:sp>
      <p:sp>
        <p:nvSpPr>
          <p:cNvPr id="120" name="Google Shape;120;p1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8"/>
          <p:cNvSpPr txBox="1">
            <a:spLocks noGrp="1"/>
          </p:cNvSpPr>
          <p:nvPr>
            <p:ph type="title"/>
          </p:nvPr>
        </p:nvSpPr>
        <p:spPr>
          <a:xfrm>
            <a:off x="838200" y="161700"/>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a:latin typeface="Nunito"/>
                <a:ea typeface="Nunito"/>
                <a:cs typeface="Nunito"/>
                <a:sym typeface="Nunito"/>
              </a:rPr>
              <a:t>Problem Statement</a:t>
            </a:r>
            <a:endParaRPr sz="3600" b="1">
              <a:latin typeface="Nunito"/>
              <a:ea typeface="Nunito"/>
              <a:cs typeface="Nunito"/>
              <a:sym typeface="Nunito"/>
            </a:endParaRPr>
          </a:p>
        </p:txBody>
      </p:sp>
      <p:sp>
        <p:nvSpPr>
          <p:cNvPr id="126" name="Google Shape;126;p18"/>
          <p:cNvSpPr txBox="1">
            <a:spLocks noGrp="1"/>
          </p:cNvSpPr>
          <p:nvPr>
            <p:ph type="body" idx="1"/>
          </p:nvPr>
        </p:nvSpPr>
        <p:spPr>
          <a:xfrm>
            <a:off x="838200" y="1475550"/>
            <a:ext cx="10515600" cy="3906900"/>
          </a:xfrm>
          <a:prstGeom prst="rect">
            <a:avLst/>
          </a:prstGeom>
        </p:spPr>
        <p:txBody>
          <a:bodyPr spcFirstLastPara="1" wrap="square" lIns="91425" tIns="45700" rIns="91425" bIns="45700" anchor="t" anchorCtr="0">
            <a:noAutofit/>
          </a:bodyPr>
          <a:lstStyle/>
          <a:p>
            <a:pPr marL="457200" lvl="0" indent="-317500" algn="just" rtl="0">
              <a:lnSpc>
                <a:spcPct val="200000"/>
              </a:lnSpc>
              <a:spcBef>
                <a:spcPts val="0"/>
              </a:spcBef>
              <a:spcAft>
                <a:spcPts val="0"/>
              </a:spcAft>
              <a:buSzPts val="1400"/>
              <a:buFont typeface="Montserrat"/>
              <a:buChar char="●"/>
            </a:pPr>
            <a:r>
              <a:rPr lang="en-US" sz="1600" dirty="0">
                <a:latin typeface="Montserrat"/>
                <a:ea typeface="Montserrat"/>
                <a:cs typeface="Montserrat"/>
                <a:sym typeface="Montserrat"/>
              </a:rPr>
              <a:t>Football match analysis methods are often limited by manual processes, lack of automation, and insufficient AI-powered insights. Existing solutions either demand expensive tools or fail to provide comprehensive real-time analytics.</a:t>
            </a:r>
          </a:p>
          <a:p>
            <a:pPr indent="-317500" algn="just">
              <a:lnSpc>
                <a:spcPct val="200000"/>
              </a:lnSpc>
              <a:spcBef>
                <a:spcPts val="0"/>
              </a:spcBef>
              <a:buSzPts val="1400"/>
              <a:buFont typeface="Montserrat"/>
              <a:buChar char="●"/>
            </a:pPr>
            <a:r>
              <a:rPr lang="en-US" sz="1600" dirty="0">
                <a:latin typeface="Montserrat"/>
                <a:ea typeface="Montserrat"/>
                <a:cs typeface="Montserrat"/>
                <a:sym typeface="Montserrat"/>
              </a:rPr>
              <a:t>Utilize YOLO for object detection to identify players, referees, and the </a:t>
            </a:r>
            <a:r>
              <a:rPr lang="en-US" sz="1600" dirty="0" err="1">
                <a:latin typeface="Montserrat"/>
                <a:ea typeface="Montserrat"/>
                <a:cs typeface="Montserrat"/>
                <a:sym typeface="Montserrat"/>
              </a:rPr>
              <a:t>ball.Apply</a:t>
            </a:r>
            <a:r>
              <a:rPr lang="en-US" sz="1600" dirty="0">
                <a:latin typeface="Montserrat"/>
                <a:ea typeface="Montserrat"/>
                <a:cs typeface="Montserrat"/>
                <a:sym typeface="Montserrat"/>
              </a:rPr>
              <a:t> </a:t>
            </a:r>
            <a:r>
              <a:rPr lang="en-US" sz="1600" dirty="0" err="1">
                <a:latin typeface="Montserrat"/>
                <a:ea typeface="Montserrat"/>
                <a:cs typeface="Montserrat"/>
                <a:sym typeface="Montserrat"/>
              </a:rPr>
              <a:t>Kmeans</a:t>
            </a:r>
            <a:r>
              <a:rPr lang="en-US" sz="1600" dirty="0">
                <a:latin typeface="Montserrat"/>
                <a:ea typeface="Montserrat"/>
                <a:cs typeface="Montserrat"/>
                <a:sym typeface="Montserrat"/>
              </a:rPr>
              <a:t> clustering for t-shirt color-based player </a:t>
            </a:r>
            <a:r>
              <a:rPr lang="en-US" sz="1600" dirty="0" err="1">
                <a:latin typeface="Montserrat"/>
                <a:ea typeface="Montserrat"/>
                <a:cs typeface="Montserrat"/>
                <a:sym typeface="Montserrat"/>
              </a:rPr>
              <a:t>assignment.Measure</a:t>
            </a:r>
            <a:r>
              <a:rPr lang="en-US" sz="1600" dirty="0">
                <a:latin typeface="Montserrat"/>
                <a:ea typeface="Montserrat"/>
                <a:cs typeface="Montserrat"/>
                <a:sym typeface="Montserrat"/>
              </a:rPr>
              <a:t> player movement with optical flow and perspective transformation in meters instead of </a:t>
            </a:r>
            <a:r>
              <a:rPr lang="en-US" sz="1600" dirty="0" err="1">
                <a:latin typeface="Montserrat"/>
                <a:ea typeface="Montserrat"/>
                <a:cs typeface="Montserrat"/>
                <a:sym typeface="Montserrat"/>
              </a:rPr>
              <a:t>pixels.Calculate</a:t>
            </a:r>
            <a:r>
              <a:rPr lang="en-US" sz="1600" dirty="0">
                <a:latin typeface="Montserrat"/>
                <a:ea typeface="Montserrat"/>
                <a:cs typeface="Montserrat"/>
                <a:sym typeface="Montserrat"/>
              </a:rPr>
              <a:t> speed, distance covered, and ball possession percentage for each </a:t>
            </a:r>
            <a:r>
              <a:rPr lang="en-US" sz="1600" dirty="0" err="1">
                <a:latin typeface="Montserrat"/>
                <a:ea typeface="Montserrat"/>
                <a:cs typeface="Montserrat"/>
                <a:sym typeface="Montserrat"/>
              </a:rPr>
              <a:t>team.Develop</a:t>
            </a:r>
            <a:r>
              <a:rPr lang="en-US" sz="1600" dirty="0">
                <a:latin typeface="Montserrat"/>
                <a:ea typeface="Montserrat"/>
                <a:cs typeface="Montserrat"/>
                <a:sym typeface="Montserrat"/>
              </a:rPr>
              <a:t> a cost-effective, automated, and scalable system for real-time football match analysis.</a:t>
            </a:r>
          </a:p>
        </p:txBody>
      </p:sp>
      <p:pic>
        <p:nvPicPr>
          <p:cNvPr id="127" name="Google Shape;127;p18"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28" name="Google Shape;128;p1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9"/>
          <p:cNvSpPr txBox="1">
            <a:spLocks noGrp="1"/>
          </p:cNvSpPr>
          <p:nvPr>
            <p:ph type="title"/>
          </p:nvPr>
        </p:nvSpPr>
        <p:spPr>
          <a:xfrm>
            <a:off x="838200" y="365125"/>
            <a:ext cx="10515600" cy="13173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a:latin typeface="Nunito"/>
                <a:ea typeface="Nunito"/>
                <a:cs typeface="Nunito"/>
                <a:sym typeface="Nunito"/>
              </a:rPr>
              <a:t>Objective</a:t>
            </a:r>
            <a:endParaRPr sz="3600" b="1">
              <a:latin typeface="Nunito"/>
              <a:ea typeface="Nunito"/>
              <a:cs typeface="Nunito"/>
              <a:sym typeface="Nunito"/>
            </a:endParaRPr>
          </a:p>
        </p:txBody>
      </p:sp>
      <p:sp>
        <p:nvSpPr>
          <p:cNvPr id="134" name="Google Shape;134;p19"/>
          <p:cNvSpPr txBox="1">
            <a:spLocks noGrp="1"/>
          </p:cNvSpPr>
          <p:nvPr>
            <p:ph type="body" idx="1"/>
          </p:nvPr>
        </p:nvSpPr>
        <p:spPr>
          <a:xfrm>
            <a:off x="838200" y="1758450"/>
            <a:ext cx="10515600" cy="3708600"/>
          </a:xfrm>
          <a:prstGeom prst="rect">
            <a:avLst/>
          </a:prstGeom>
        </p:spPr>
        <p:txBody>
          <a:bodyPr spcFirstLastPara="1" wrap="square" lIns="91425" tIns="45700" rIns="91425" bIns="45700" anchor="t" anchorCtr="0">
            <a:normAutofit/>
          </a:bodyPr>
          <a:lstStyle/>
          <a:p>
            <a:pPr marL="114300" indent="0">
              <a:buNone/>
            </a:pPr>
            <a:endParaRPr lang="en-US" sz="1400" b="1" dirty="0"/>
          </a:p>
          <a:p>
            <a:pPr>
              <a:buFont typeface="+mj-lt"/>
              <a:buAutoNum type="arabicPeriod"/>
            </a:pPr>
            <a:r>
              <a:rPr lang="en-US" sz="1400" b="1" dirty="0"/>
              <a:t>Automated Object Detection:</a:t>
            </a:r>
            <a:br>
              <a:rPr lang="en-US" sz="1400" dirty="0"/>
            </a:br>
            <a:r>
              <a:rPr lang="en-US" sz="1400" dirty="0"/>
              <a:t>Develop an AI-powered system using YOLO to detect and track players, referees, and the football in match footage.</a:t>
            </a:r>
          </a:p>
          <a:p>
            <a:pPr>
              <a:buFont typeface="+mj-lt"/>
              <a:buAutoNum type="arabicPeriod"/>
            </a:pPr>
            <a:r>
              <a:rPr lang="en-US" sz="1400" b="1" dirty="0"/>
              <a:t>Team Classification:</a:t>
            </a:r>
            <a:br>
              <a:rPr lang="en-US" sz="1400" dirty="0"/>
            </a:br>
            <a:r>
              <a:rPr lang="en-US" sz="1400" dirty="0"/>
              <a:t>Implement </a:t>
            </a:r>
            <a:r>
              <a:rPr lang="en-US" sz="1400" dirty="0" err="1"/>
              <a:t>Kmeans</a:t>
            </a:r>
            <a:r>
              <a:rPr lang="en-US" sz="1400" dirty="0"/>
              <a:t> clustering to assign players to teams based on t-shirt color pixel segmentation.</a:t>
            </a:r>
          </a:p>
          <a:p>
            <a:pPr>
              <a:buFont typeface="+mj-lt"/>
              <a:buAutoNum type="arabicPeriod"/>
            </a:pPr>
            <a:r>
              <a:rPr lang="en-US" sz="1400" b="1" dirty="0"/>
              <a:t>Performance Analytics:</a:t>
            </a:r>
            <a:br>
              <a:rPr lang="en-US" sz="1400" dirty="0"/>
            </a:br>
            <a:r>
              <a:rPr lang="en-US" sz="1400" dirty="0"/>
              <a:t>Calculate key metrics such as ball possession percentage, player speed, and distance covered using optical flow and perspective transformation.</a:t>
            </a:r>
          </a:p>
          <a:p>
            <a:pPr>
              <a:buFont typeface="+mj-lt"/>
              <a:buAutoNum type="arabicPeriod"/>
            </a:pPr>
            <a:r>
              <a:rPr lang="en-US" sz="1400" b="1" dirty="0"/>
              <a:t>Real-world Movement Analysis:</a:t>
            </a:r>
            <a:br>
              <a:rPr lang="en-US" sz="1400" dirty="0"/>
            </a:br>
            <a:r>
              <a:rPr lang="en-US" sz="1400" dirty="0"/>
              <a:t>Accurately measure player movements in meters instead of pixels by leveraging perspective transformation techniques.</a:t>
            </a:r>
          </a:p>
        </p:txBody>
      </p:sp>
      <p:pic>
        <p:nvPicPr>
          <p:cNvPr id="135" name="Google Shape;135;p19"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36" name="Google Shape;136;p19"/>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a:latin typeface="Nunito"/>
                <a:ea typeface="Nunito"/>
                <a:cs typeface="Nunito"/>
                <a:sym typeface="Nunito"/>
              </a:rPr>
              <a:t>Scope</a:t>
            </a:r>
            <a:endParaRPr sz="3600" b="1">
              <a:latin typeface="Nunito"/>
              <a:ea typeface="Nunito"/>
              <a:cs typeface="Nunito"/>
              <a:sym typeface="Nunito"/>
            </a:endParaRPr>
          </a:p>
        </p:txBody>
      </p:sp>
      <p:sp>
        <p:nvSpPr>
          <p:cNvPr id="142" name="Google Shape;142;p20"/>
          <p:cNvSpPr txBox="1">
            <a:spLocks noGrp="1"/>
          </p:cNvSpPr>
          <p:nvPr>
            <p:ph type="body" idx="1"/>
          </p:nvPr>
        </p:nvSpPr>
        <p:spPr>
          <a:xfrm>
            <a:off x="838200" y="1807050"/>
            <a:ext cx="10715100" cy="4699800"/>
          </a:xfrm>
          <a:prstGeom prst="rect">
            <a:avLst/>
          </a:prstGeom>
        </p:spPr>
        <p:txBody>
          <a:bodyPr spcFirstLastPara="1" wrap="square" lIns="91425" tIns="45700" rIns="91425" bIns="45700" anchor="t" anchorCtr="0">
            <a:noAutofit/>
          </a:bodyPr>
          <a:lstStyle/>
          <a:p>
            <a:r>
              <a:rPr lang="en-US" sz="1100" b="1" dirty="0"/>
              <a:t>Slide Title: Scope of the Project</a:t>
            </a:r>
          </a:p>
          <a:p>
            <a:r>
              <a:rPr lang="en-US" sz="1100" b="1" dirty="0"/>
              <a:t>Scope of the Football Analysis Project:</a:t>
            </a:r>
            <a:endParaRPr lang="en-US" sz="1100" dirty="0"/>
          </a:p>
          <a:p>
            <a:pPr>
              <a:buFont typeface="+mj-lt"/>
              <a:buAutoNum type="arabicPeriod"/>
            </a:pPr>
            <a:r>
              <a:rPr lang="en-US" sz="1100" b="1" dirty="0"/>
              <a:t>Automated Player and Ball Detection:</a:t>
            </a:r>
            <a:endParaRPr lang="en-US" sz="1100" dirty="0"/>
          </a:p>
          <a:p>
            <a:pPr marL="742950" lvl="1" indent="-285750">
              <a:buFont typeface="+mj-lt"/>
              <a:buAutoNum type="arabicPeriod"/>
            </a:pPr>
            <a:r>
              <a:rPr lang="en-US" sz="1100" dirty="0"/>
              <a:t>Utilize YOLO object detection to identify and track players, referees, and the football in real-time or recorded match footage.</a:t>
            </a:r>
          </a:p>
          <a:p>
            <a:pPr>
              <a:buFont typeface="+mj-lt"/>
              <a:buAutoNum type="arabicPeriod"/>
            </a:pPr>
            <a:r>
              <a:rPr lang="en-US" sz="1100" b="1" dirty="0"/>
              <a:t>Team Classification and Analysis:</a:t>
            </a:r>
            <a:endParaRPr lang="en-US" sz="1100" dirty="0"/>
          </a:p>
          <a:p>
            <a:pPr marL="742950" lvl="1" indent="-285750">
              <a:buFont typeface="+mj-lt"/>
              <a:buAutoNum type="arabicPeriod"/>
            </a:pPr>
            <a:r>
              <a:rPr lang="en-US" sz="1100" dirty="0"/>
              <a:t>Assign players to teams based on t-shirt color segmentation using </a:t>
            </a:r>
            <a:r>
              <a:rPr lang="en-US" sz="1100" dirty="0" err="1"/>
              <a:t>Kmeans</a:t>
            </a:r>
            <a:r>
              <a:rPr lang="en-US" sz="1100" dirty="0"/>
              <a:t> clustering.</a:t>
            </a:r>
          </a:p>
          <a:p>
            <a:pPr>
              <a:buFont typeface="+mj-lt"/>
              <a:buAutoNum type="arabicPeriod"/>
            </a:pPr>
            <a:r>
              <a:rPr lang="en-US" sz="1100" b="1" dirty="0"/>
              <a:t>Performance Metrics Calculation:</a:t>
            </a:r>
            <a:endParaRPr lang="en-US" sz="1100" dirty="0"/>
          </a:p>
          <a:p>
            <a:pPr marL="742950" lvl="1" indent="-285750">
              <a:buFont typeface="+mj-lt"/>
              <a:buAutoNum type="arabicPeriod"/>
            </a:pPr>
            <a:r>
              <a:rPr lang="en-US" sz="1100" dirty="0"/>
              <a:t>Measure key match statistics, including ball possession percentages, player movement speed, and distance covered.</a:t>
            </a:r>
          </a:p>
          <a:p>
            <a:pPr>
              <a:buFont typeface="+mj-lt"/>
              <a:buAutoNum type="arabicPeriod"/>
            </a:pPr>
            <a:r>
              <a:rPr lang="en-US" sz="1100" b="1" dirty="0"/>
              <a:t>Camera Movement Compensation:</a:t>
            </a:r>
            <a:endParaRPr lang="en-US" sz="1100" dirty="0"/>
          </a:p>
          <a:p>
            <a:pPr marL="742950" lvl="1" indent="-285750">
              <a:buFont typeface="+mj-lt"/>
              <a:buAutoNum type="arabicPeriod"/>
            </a:pPr>
            <a:r>
              <a:rPr lang="en-US" sz="1100" dirty="0"/>
              <a:t>Apply optical flow to handle dynamic camera movements, ensuring accurate tracking and analysis.</a:t>
            </a:r>
          </a:p>
          <a:p>
            <a:pPr>
              <a:buFont typeface="+mj-lt"/>
              <a:buAutoNum type="arabicPeriod"/>
            </a:pPr>
            <a:r>
              <a:rPr lang="en-US" sz="1100" b="1" dirty="0"/>
              <a:t>Real-world Measurement Conversion:</a:t>
            </a:r>
            <a:endParaRPr lang="en-US" sz="1100" dirty="0"/>
          </a:p>
          <a:p>
            <a:pPr marL="742950" lvl="1" indent="-285750">
              <a:buFont typeface="+mj-lt"/>
              <a:buAutoNum type="arabicPeriod"/>
            </a:pPr>
            <a:r>
              <a:rPr lang="en-US" sz="1100" dirty="0"/>
              <a:t>Implement perspective transformation to convert pixel-based measurements to real-world units (meters).</a:t>
            </a:r>
          </a:p>
          <a:p>
            <a:pPr>
              <a:buFont typeface="+mj-lt"/>
              <a:buAutoNum type="arabicPeriod"/>
            </a:pPr>
            <a:r>
              <a:rPr lang="en-US" sz="1100" b="1" dirty="0"/>
              <a:t>Data Visualization and Insights:</a:t>
            </a:r>
            <a:endParaRPr lang="en-US" sz="1100" dirty="0"/>
          </a:p>
          <a:p>
            <a:pPr marL="742950" lvl="1" indent="-285750">
              <a:buFont typeface="+mj-lt"/>
              <a:buAutoNum type="arabicPeriod"/>
            </a:pPr>
            <a:r>
              <a:rPr lang="en-US" sz="1100" dirty="0"/>
              <a:t>Provide interactive dashboards or visual representations to showcase player movements, team performance, and game statistics.</a:t>
            </a:r>
          </a:p>
          <a:p>
            <a:pPr>
              <a:buFont typeface="+mj-lt"/>
              <a:buAutoNum type="arabicPeriod"/>
            </a:pPr>
            <a:r>
              <a:rPr lang="en-US" sz="1100" b="1" dirty="0"/>
              <a:t>Cost-effective Solution:</a:t>
            </a:r>
            <a:endParaRPr lang="en-US" sz="1100" dirty="0"/>
          </a:p>
          <a:p>
            <a:pPr marL="742950" lvl="1" indent="-285750">
              <a:buFont typeface="+mj-lt"/>
              <a:buAutoNum type="arabicPeriod"/>
            </a:pPr>
            <a:r>
              <a:rPr lang="en-US" sz="1100" dirty="0"/>
              <a:t>Develop a scalable and automated platform suitable for small clubs, academies, and professional teams seeking comprehensive analytics without high expenses.</a:t>
            </a:r>
          </a:p>
          <a:p>
            <a:r>
              <a:rPr lang="en-US" sz="1100" dirty="0"/>
              <a:t>Would you need elaborated sections for presentation slides or visual elements?</a:t>
            </a:r>
          </a:p>
        </p:txBody>
      </p:sp>
      <p:pic>
        <p:nvPicPr>
          <p:cNvPr id="143" name="Google Shape;143;p20"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44" name="Google Shape;144;p2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dirty="0">
                <a:latin typeface="Nunito"/>
                <a:ea typeface="Nunito"/>
                <a:cs typeface="Nunito"/>
                <a:sym typeface="Nunito"/>
              </a:rPr>
              <a:t>SRS</a:t>
            </a:r>
            <a:endParaRPr sz="3600" b="1" dirty="0">
              <a:latin typeface="Nunito"/>
              <a:ea typeface="Nunito"/>
              <a:cs typeface="Nunito"/>
              <a:sym typeface="Nunito"/>
            </a:endParaRPr>
          </a:p>
        </p:txBody>
      </p:sp>
      <p:pic>
        <p:nvPicPr>
          <p:cNvPr id="151" name="Google Shape;151;p21"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52" name="Google Shape;152;p21"/>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10</a:t>
            </a:fld>
            <a:endParaRPr/>
          </a:p>
        </p:txBody>
      </p:sp>
      <p:graphicFrame>
        <p:nvGraphicFramePr>
          <p:cNvPr id="3" name="Table 2">
            <a:extLst>
              <a:ext uri="{FF2B5EF4-FFF2-40B4-BE49-F238E27FC236}">
                <a16:creationId xmlns:a16="http://schemas.microsoft.com/office/drawing/2014/main" id="{D626ADBC-FA32-2A1B-8B07-9DB4935C54AC}"/>
              </a:ext>
            </a:extLst>
          </p:cNvPr>
          <p:cNvGraphicFramePr>
            <a:graphicFrameLocks noGrp="1"/>
          </p:cNvGraphicFramePr>
          <p:nvPr>
            <p:extLst>
              <p:ext uri="{D42A27DB-BD31-4B8C-83A1-F6EECF244321}">
                <p14:modId xmlns:p14="http://schemas.microsoft.com/office/powerpoint/2010/main" val="2852181587"/>
              </p:ext>
            </p:extLst>
          </p:nvPr>
        </p:nvGraphicFramePr>
        <p:xfrm>
          <a:off x="1865174" y="1406612"/>
          <a:ext cx="7015008" cy="4351338"/>
        </p:xfrm>
        <a:graphic>
          <a:graphicData uri="http://schemas.openxmlformats.org/drawingml/2006/table">
            <a:tbl>
              <a:tblPr/>
              <a:tblGrid>
                <a:gridCol w="2338336">
                  <a:extLst>
                    <a:ext uri="{9D8B030D-6E8A-4147-A177-3AD203B41FA5}">
                      <a16:colId xmlns:a16="http://schemas.microsoft.com/office/drawing/2014/main" val="2681133371"/>
                    </a:ext>
                  </a:extLst>
                </a:gridCol>
                <a:gridCol w="2338336">
                  <a:extLst>
                    <a:ext uri="{9D8B030D-6E8A-4147-A177-3AD203B41FA5}">
                      <a16:colId xmlns:a16="http://schemas.microsoft.com/office/drawing/2014/main" val="1451802137"/>
                    </a:ext>
                  </a:extLst>
                </a:gridCol>
                <a:gridCol w="2338336">
                  <a:extLst>
                    <a:ext uri="{9D8B030D-6E8A-4147-A177-3AD203B41FA5}">
                      <a16:colId xmlns:a16="http://schemas.microsoft.com/office/drawing/2014/main" val="3265006935"/>
                    </a:ext>
                  </a:extLst>
                </a:gridCol>
              </a:tblGrid>
              <a:tr h="203334">
                <a:tc>
                  <a:txBody>
                    <a:bodyPr/>
                    <a:lstStyle/>
                    <a:p>
                      <a:r>
                        <a:rPr lang="en-US" sz="900" b="1"/>
                        <a:t>Category</a:t>
                      </a:r>
                      <a:endParaRPr lang="en-US" sz="900"/>
                    </a:p>
                  </a:txBody>
                  <a:tcPr marL="61000" marR="61000" marT="30500" marB="30500" anchor="ctr">
                    <a:lnL>
                      <a:noFill/>
                    </a:lnL>
                    <a:lnR>
                      <a:noFill/>
                    </a:lnR>
                    <a:lnT>
                      <a:noFill/>
                    </a:lnT>
                    <a:lnB>
                      <a:noFill/>
                    </a:lnB>
                    <a:noFill/>
                  </a:tcPr>
                </a:tc>
                <a:tc>
                  <a:txBody>
                    <a:bodyPr/>
                    <a:lstStyle/>
                    <a:p>
                      <a:r>
                        <a:rPr lang="en-US" sz="900" b="1"/>
                        <a:t>Requirement Type</a:t>
                      </a:r>
                      <a:endParaRPr lang="en-US" sz="900"/>
                    </a:p>
                  </a:txBody>
                  <a:tcPr marL="61000" marR="61000" marT="30500" marB="30500" anchor="ctr">
                    <a:lnL>
                      <a:noFill/>
                    </a:lnL>
                    <a:lnR>
                      <a:noFill/>
                    </a:lnR>
                    <a:lnT>
                      <a:noFill/>
                    </a:lnT>
                    <a:lnB>
                      <a:noFill/>
                    </a:lnB>
                    <a:noFill/>
                  </a:tcPr>
                </a:tc>
                <a:tc>
                  <a:txBody>
                    <a:bodyPr/>
                    <a:lstStyle/>
                    <a:p>
                      <a:r>
                        <a:rPr lang="en-US" sz="900" b="1"/>
                        <a:t>Description</a:t>
                      </a:r>
                      <a:endParaRPr lang="en-US" sz="900"/>
                    </a:p>
                  </a:txBody>
                  <a:tcPr marL="61000" marR="61000" marT="30500" marB="30500" anchor="ctr">
                    <a:lnL>
                      <a:noFill/>
                    </a:lnL>
                    <a:lnR>
                      <a:noFill/>
                    </a:lnR>
                    <a:lnT>
                      <a:noFill/>
                    </a:lnT>
                    <a:lnB>
                      <a:noFill/>
                    </a:lnB>
                    <a:noFill/>
                  </a:tcPr>
                </a:tc>
                <a:extLst>
                  <a:ext uri="{0D108BD9-81ED-4DB2-BD59-A6C34878D82A}">
                    <a16:rowId xmlns:a16="http://schemas.microsoft.com/office/drawing/2014/main" val="432277425"/>
                  </a:ext>
                </a:extLst>
              </a:tr>
              <a:tr h="345667">
                <a:tc>
                  <a:txBody>
                    <a:bodyPr/>
                    <a:lstStyle/>
                    <a:p>
                      <a:r>
                        <a:rPr lang="en-US" sz="900" b="1"/>
                        <a:t>Functional</a:t>
                      </a:r>
                      <a:endParaRPr lang="en-US" sz="900"/>
                    </a:p>
                  </a:txBody>
                  <a:tcPr marL="61000" marR="61000" marT="30500" marB="30500" anchor="ctr">
                    <a:lnL>
                      <a:noFill/>
                    </a:lnL>
                    <a:lnR>
                      <a:noFill/>
                    </a:lnR>
                    <a:lnT>
                      <a:noFill/>
                    </a:lnT>
                    <a:lnB>
                      <a:noFill/>
                    </a:lnB>
                    <a:noFill/>
                  </a:tcPr>
                </a:tc>
                <a:tc>
                  <a:txBody>
                    <a:bodyPr/>
                    <a:lstStyle/>
                    <a:p>
                      <a:r>
                        <a:rPr lang="en-US" sz="900" dirty="0"/>
                        <a:t>Detection &amp; Tracking</a:t>
                      </a:r>
                    </a:p>
                  </a:txBody>
                  <a:tcPr marL="61000" marR="61000" marT="30500" marB="30500" anchor="ctr">
                    <a:lnL>
                      <a:noFill/>
                    </a:lnL>
                    <a:lnR>
                      <a:noFill/>
                    </a:lnR>
                    <a:lnT>
                      <a:noFill/>
                    </a:lnT>
                    <a:lnB>
                      <a:noFill/>
                    </a:lnB>
                    <a:noFill/>
                  </a:tcPr>
                </a:tc>
                <a:tc>
                  <a:txBody>
                    <a:bodyPr/>
                    <a:lstStyle/>
                    <a:p>
                      <a:r>
                        <a:rPr lang="en-US" sz="900"/>
                        <a:t>Detect and track players, referees, and football.</a:t>
                      </a:r>
                    </a:p>
                  </a:txBody>
                  <a:tcPr marL="61000" marR="61000" marT="30500" marB="30500" anchor="ctr">
                    <a:lnL>
                      <a:noFill/>
                    </a:lnL>
                    <a:lnR>
                      <a:noFill/>
                    </a:lnR>
                    <a:lnT>
                      <a:noFill/>
                    </a:lnT>
                    <a:lnB>
                      <a:noFill/>
                    </a:lnB>
                    <a:noFill/>
                  </a:tcPr>
                </a:tc>
                <a:extLst>
                  <a:ext uri="{0D108BD9-81ED-4DB2-BD59-A6C34878D82A}">
                    <a16:rowId xmlns:a16="http://schemas.microsoft.com/office/drawing/2014/main" val="2979377610"/>
                  </a:ext>
                </a:extLst>
              </a:tr>
              <a:tr h="345667">
                <a:tc>
                  <a:txBody>
                    <a:bodyPr/>
                    <a:lstStyle/>
                    <a:p>
                      <a:endParaRPr lang="en-US" sz="900"/>
                    </a:p>
                  </a:txBody>
                  <a:tcPr marL="61000" marR="61000" marT="30500" marB="30500" anchor="ctr">
                    <a:lnL>
                      <a:noFill/>
                    </a:lnL>
                    <a:lnR>
                      <a:noFill/>
                    </a:lnR>
                    <a:lnT>
                      <a:noFill/>
                    </a:lnT>
                    <a:lnB>
                      <a:noFill/>
                    </a:lnB>
                    <a:noFill/>
                  </a:tcPr>
                </a:tc>
                <a:tc>
                  <a:txBody>
                    <a:bodyPr/>
                    <a:lstStyle/>
                    <a:p>
                      <a:r>
                        <a:rPr lang="en-US" sz="900"/>
                        <a:t>Team Classification</a:t>
                      </a:r>
                    </a:p>
                  </a:txBody>
                  <a:tcPr marL="61000" marR="61000" marT="30500" marB="30500" anchor="ctr">
                    <a:lnL>
                      <a:noFill/>
                    </a:lnL>
                    <a:lnR>
                      <a:noFill/>
                    </a:lnR>
                    <a:lnT>
                      <a:noFill/>
                    </a:lnT>
                    <a:lnB>
                      <a:noFill/>
                    </a:lnB>
                    <a:noFill/>
                  </a:tcPr>
                </a:tc>
                <a:tc>
                  <a:txBody>
                    <a:bodyPr/>
                    <a:lstStyle/>
                    <a:p>
                      <a:r>
                        <a:rPr lang="en-US" sz="900"/>
                        <a:t>Assign players to teams using color segmentation.</a:t>
                      </a:r>
                    </a:p>
                  </a:txBody>
                  <a:tcPr marL="61000" marR="61000" marT="30500" marB="30500" anchor="ctr">
                    <a:lnL>
                      <a:noFill/>
                    </a:lnL>
                    <a:lnR>
                      <a:noFill/>
                    </a:lnR>
                    <a:lnT>
                      <a:noFill/>
                    </a:lnT>
                    <a:lnB>
                      <a:noFill/>
                    </a:lnB>
                    <a:noFill/>
                  </a:tcPr>
                </a:tc>
                <a:extLst>
                  <a:ext uri="{0D108BD9-81ED-4DB2-BD59-A6C34878D82A}">
                    <a16:rowId xmlns:a16="http://schemas.microsoft.com/office/drawing/2014/main" val="741524562"/>
                  </a:ext>
                </a:extLst>
              </a:tr>
              <a:tr h="345667">
                <a:tc>
                  <a:txBody>
                    <a:bodyPr/>
                    <a:lstStyle/>
                    <a:p>
                      <a:endParaRPr lang="en-US" sz="900"/>
                    </a:p>
                  </a:txBody>
                  <a:tcPr marL="61000" marR="61000" marT="30500" marB="30500" anchor="ctr">
                    <a:lnL>
                      <a:noFill/>
                    </a:lnL>
                    <a:lnR>
                      <a:noFill/>
                    </a:lnR>
                    <a:lnT>
                      <a:noFill/>
                    </a:lnT>
                    <a:lnB>
                      <a:noFill/>
                    </a:lnB>
                    <a:noFill/>
                  </a:tcPr>
                </a:tc>
                <a:tc>
                  <a:txBody>
                    <a:bodyPr/>
                    <a:lstStyle/>
                    <a:p>
                      <a:r>
                        <a:rPr lang="en-US" sz="900"/>
                        <a:t>Performance Analysis</a:t>
                      </a:r>
                    </a:p>
                  </a:txBody>
                  <a:tcPr marL="61000" marR="61000" marT="30500" marB="30500" anchor="ctr">
                    <a:lnL>
                      <a:noFill/>
                    </a:lnL>
                    <a:lnR>
                      <a:noFill/>
                    </a:lnR>
                    <a:lnT>
                      <a:noFill/>
                    </a:lnT>
                    <a:lnB>
                      <a:noFill/>
                    </a:lnB>
                    <a:noFill/>
                  </a:tcPr>
                </a:tc>
                <a:tc>
                  <a:txBody>
                    <a:bodyPr/>
                    <a:lstStyle/>
                    <a:p>
                      <a:r>
                        <a:rPr lang="en-US" sz="900"/>
                        <a:t>Calculate ball possession, speed, and distances.</a:t>
                      </a:r>
                    </a:p>
                  </a:txBody>
                  <a:tcPr marL="61000" marR="61000" marT="30500" marB="30500" anchor="ctr">
                    <a:lnL>
                      <a:noFill/>
                    </a:lnL>
                    <a:lnR>
                      <a:noFill/>
                    </a:lnR>
                    <a:lnT>
                      <a:noFill/>
                    </a:lnT>
                    <a:lnB>
                      <a:noFill/>
                    </a:lnB>
                    <a:noFill/>
                  </a:tcPr>
                </a:tc>
                <a:extLst>
                  <a:ext uri="{0D108BD9-81ED-4DB2-BD59-A6C34878D82A}">
                    <a16:rowId xmlns:a16="http://schemas.microsoft.com/office/drawing/2014/main" val="4075477504"/>
                  </a:ext>
                </a:extLst>
              </a:tr>
              <a:tr h="345667">
                <a:tc>
                  <a:txBody>
                    <a:bodyPr/>
                    <a:lstStyle/>
                    <a:p>
                      <a:endParaRPr lang="en-US" sz="900"/>
                    </a:p>
                  </a:txBody>
                  <a:tcPr marL="61000" marR="61000" marT="30500" marB="30500" anchor="ctr">
                    <a:lnL>
                      <a:noFill/>
                    </a:lnL>
                    <a:lnR>
                      <a:noFill/>
                    </a:lnR>
                    <a:lnT>
                      <a:noFill/>
                    </a:lnT>
                    <a:lnB>
                      <a:noFill/>
                    </a:lnB>
                    <a:noFill/>
                  </a:tcPr>
                </a:tc>
                <a:tc>
                  <a:txBody>
                    <a:bodyPr/>
                    <a:lstStyle/>
                    <a:p>
                      <a:r>
                        <a:rPr lang="en-US" sz="900"/>
                        <a:t>Camera Handling</a:t>
                      </a:r>
                    </a:p>
                  </a:txBody>
                  <a:tcPr marL="61000" marR="61000" marT="30500" marB="30500" anchor="ctr">
                    <a:lnL>
                      <a:noFill/>
                    </a:lnL>
                    <a:lnR>
                      <a:noFill/>
                    </a:lnR>
                    <a:lnT>
                      <a:noFill/>
                    </a:lnT>
                    <a:lnB>
                      <a:noFill/>
                    </a:lnB>
                    <a:noFill/>
                  </a:tcPr>
                </a:tc>
                <a:tc>
                  <a:txBody>
                    <a:bodyPr/>
                    <a:lstStyle/>
                    <a:p>
                      <a:r>
                        <a:rPr lang="en-US" sz="900"/>
                        <a:t>Compensate for camera movements using optical flow.</a:t>
                      </a:r>
                    </a:p>
                  </a:txBody>
                  <a:tcPr marL="61000" marR="61000" marT="30500" marB="30500" anchor="ctr">
                    <a:lnL>
                      <a:noFill/>
                    </a:lnL>
                    <a:lnR>
                      <a:noFill/>
                    </a:lnR>
                    <a:lnT>
                      <a:noFill/>
                    </a:lnT>
                    <a:lnB>
                      <a:noFill/>
                    </a:lnB>
                    <a:noFill/>
                  </a:tcPr>
                </a:tc>
                <a:extLst>
                  <a:ext uri="{0D108BD9-81ED-4DB2-BD59-A6C34878D82A}">
                    <a16:rowId xmlns:a16="http://schemas.microsoft.com/office/drawing/2014/main" val="3206322215"/>
                  </a:ext>
                </a:extLst>
              </a:tr>
              <a:tr h="345667">
                <a:tc>
                  <a:txBody>
                    <a:bodyPr/>
                    <a:lstStyle/>
                    <a:p>
                      <a:endParaRPr lang="en-US" sz="900"/>
                    </a:p>
                  </a:txBody>
                  <a:tcPr marL="61000" marR="61000" marT="30500" marB="30500" anchor="ctr">
                    <a:lnL>
                      <a:noFill/>
                    </a:lnL>
                    <a:lnR>
                      <a:noFill/>
                    </a:lnR>
                    <a:lnT>
                      <a:noFill/>
                    </a:lnT>
                    <a:lnB>
                      <a:noFill/>
                    </a:lnB>
                    <a:noFill/>
                  </a:tcPr>
                </a:tc>
                <a:tc>
                  <a:txBody>
                    <a:bodyPr/>
                    <a:lstStyle/>
                    <a:p>
                      <a:r>
                        <a:rPr lang="en-US" sz="900"/>
                        <a:t>Real-world Conversion</a:t>
                      </a:r>
                    </a:p>
                  </a:txBody>
                  <a:tcPr marL="61000" marR="61000" marT="30500" marB="30500" anchor="ctr">
                    <a:lnL>
                      <a:noFill/>
                    </a:lnL>
                    <a:lnR>
                      <a:noFill/>
                    </a:lnR>
                    <a:lnT>
                      <a:noFill/>
                    </a:lnT>
                    <a:lnB>
                      <a:noFill/>
                    </a:lnB>
                    <a:noFill/>
                  </a:tcPr>
                </a:tc>
                <a:tc>
                  <a:txBody>
                    <a:bodyPr/>
                    <a:lstStyle/>
                    <a:p>
                      <a:r>
                        <a:rPr lang="en-US" sz="900"/>
                        <a:t>Measure player movement in meters via transformation</a:t>
                      </a:r>
                    </a:p>
                  </a:txBody>
                  <a:tcPr marL="61000" marR="61000" marT="30500" marB="30500" anchor="ctr">
                    <a:lnL>
                      <a:noFill/>
                    </a:lnL>
                    <a:lnR>
                      <a:noFill/>
                    </a:lnR>
                    <a:lnT>
                      <a:noFill/>
                    </a:lnT>
                    <a:lnB>
                      <a:noFill/>
                    </a:lnB>
                    <a:noFill/>
                  </a:tcPr>
                </a:tc>
                <a:extLst>
                  <a:ext uri="{0D108BD9-81ED-4DB2-BD59-A6C34878D82A}">
                    <a16:rowId xmlns:a16="http://schemas.microsoft.com/office/drawing/2014/main" val="279403498"/>
                  </a:ext>
                </a:extLst>
              </a:tr>
              <a:tr h="345667">
                <a:tc>
                  <a:txBody>
                    <a:bodyPr/>
                    <a:lstStyle/>
                    <a:p>
                      <a:endParaRPr lang="en-US" sz="900"/>
                    </a:p>
                  </a:txBody>
                  <a:tcPr marL="61000" marR="61000" marT="30500" marB="30500" anchor="ctr">
                    <a:lnL>
                      <a:noFill/>
                    </a:lnL>
                    <a:lnR>
                      <a:noFill/>
                    </a:lnR>
                    <a:lnT>
                      <a:noFill/>
                    </a:lnT>
                    <a:lnB>
                      <a:noFill/>
                    </a:lnB>
                    <a:noFill/>
                  </a:tcPr>
                </a:tc>
                <a:tc>
                  <a:txBody>
                    <a:bodyPr/>
                    <a:lstStyle/>
                    <a:p>
                      <a:r>
                        <a:rPr lang="en-US" sz="900"/>
                        <a:t>Visualization</a:t>
                      </a:r>
                    </a:p>
                  </a:txBody>
                  <a:tcPr marL="61000" marR="61000" marT="30500" marB="30500" anchor="ctr">
                    <a:lnL>
                      <a:noFill/>
                    </a:lnL>
                    <a:lnR>
                      <a:noFill/>
                    </a:lnR>
                    <a:lnT>
                      <a:noFill/>
                    </a:lnT>
                    <a:lnB>
                      <a:noFill/>
                    </a:lnB>
                    <a:noFill/>
                  </a:tcPr>
                </a:tc>
                <a:tc>
                  <a:txBody>
                    <a:bodyPr/>
                    <a:lstStyle/>
                    <a:p>
                      <a:r>
                        <a:rPr lang="en-US" sz="900"/>
                        <a:t>Display interactive dashboards and match insights.</a:t>
                      </a:r>
                    </a:p>
                  </a:txBody>
                  <a:tcPr marL="61000" marR="61000" marT="30500" marB="30500" anchor="ctr">
                    <a:lnL>
                      <a:noFill/>
                    </a:lnL>
                    <a:lnR>
                      <a:noFill/>
                    </a:lnR>
                    <a:lnT>
                      <a:noFill/>
                    </a:lnT>
                    <a:lnB>
                      <a:noFill/>
                    </a:lnB>
                    <a:noFill/>
                  </a:tcPr>
                </a:tc>
                <a:extLst>
                  <a:ext uri="{0D108BD9-81ED-4DB2-BD59-A6C34878D82A}">
                    <a16:rowId xmlns:a16="http://schemas.microsoft.com/office/drawing/2014/main" val="3182192646"/>
                  </a:ext>
                </a:extLst>
              </a:tr>
              <a:tr h="345667">
                <a:tc>
                  <a:txBody>
                    <a:bodyPr/>
                    <a:lstStyle/>
                    <a:p>
                      <a:r>
                        <a:rPr lang="en-US" sz="900" b="1"/>
                        <a:t>Non-Functional</a:t>
                      </a:r>
                      <a:endParaRPr lang="en-US" sz="900"/>
                    </a:p>
                  </a:txBody>
                  <a:tcPr marL="61000" marR="61000" marT="30500" marB="30500" anchor="ctr">
                    <a:lnL>
                      <a:noFill/>
                    </a:lnL>
                    <a:lnR>
                      <a:noFill/>
                    </a:lnR>
                    <a:lnT>
                      <a:noFill/>
                    </a:lnT>
                    <a:lnB>
                      <a:noFill/>
                    </a:lnB>
                    <a:noFill/>
                  </a:tcPr>
                </a:tc>
                <a:tc>
                  <a:txBody>
                    <a:bodyPr/>
                    <a:lstStyle/>
                    <a:p>
                      <a:r>
                        <a:rPr lang="en-US" sz="900"/>
                        <a:t>Accuracy</a:t>
                      </a:r>
                    </a:p>
                  </a:txBody>
                  <a:tcPr marL="61000" marR="61000" marT="30500" marB="30500" anchor="ctr">
                    <a:lnL>
                      <a:noFill/>
                    </a:lnL>
                    <a:lnR>
                      <a:noFill/>
                    </a:lnR>
                    <a:lnT>
                      <a:noFill/>
                    </a:lnT>
                    <a:lnB>
                      <a:noFill/>
                    </a:lnB>
                    <a:noFill/>
                  </a:tcPr>
                </a:tc>
                <a:tc>
                  <a:txBody>
                    <a:bodyPr/>
                    <a:lstStyle/>
                    <a:p>
                      <a:r>
                        <a:rPr lang="en-US" sz="900"/>
                        <a:t>High detection precision for real-time analysis.</a:t>
                      </a:r>
                    </a:p>
                  </a:txBody>
                  <a:tcPr marL="61000" marR="61000" marT="30500" marB="30500" anchor="ctr">
                    <a:lnL>
                      <a:noFill/>
                    </a:lnL>
                    <a:lnR>
                      <a:noFill/>
                    </a:lnR>
                    <a:lnT>
                      <a:noFill/>
                    </a:lnT>
                    <a:lnB>
                      <a:noFill/>
                    </a:lnB>
                    <a:noFill/>
                  </a:tcPr>
                </a:tc>
                <a:extLst>
                  <a:ext uri="{0D108BD9-81ED-4DB2-BD59-A6C34878D82A}">
                    <a16:rowId xmlns:a16="http://schemas.microsoft.com/office/drawing/2014/main" val="369994239"/>
                  </a:ext>
                </a:extLst>
              </a:tr>
              <a:tr h="345667">
                <a:tc>
                  <a:txBody>
                    <a:bodyPr/>
                    <a:lstStyle/>
                    <a:p>
                      <a:endParaRPr lang="en-US" sz="900"/>
                    </a:p>
                  </a:txBody>
                  <a:tcPr marL="61000" marR="61000" marT="30500" marB="30500" anchor="ctr">
                    <a:lnL>
                      <a:noFill/>
                    </a:lnL>
                    <a:lnR>
                      <a:noFill/>
                    </a:lnR>
                    <a:lnT>
                      <a:noFill/>
                    </a:lnT>
                    <a:lnB>
                      <a:noFill/>
                    </a:lnB>
                    <a:noFill/>
                  </a:tcPr>
                </a:tc>
                <a:tc>
                  <a:txBody>
                    <a:bodyPr/>
                    <a:lstStyle/>
                    <a:p>
                      <a:r>
                        <a:rPr lang="en-US" sz="900"/>
                        <a:t>Performance</a:t>
                      </a:r>
                    </a:p>
                  </a:txBody>
                  <a:tcPr marL="61000" marR="61000" marT="30500" marB="30500" anchor="ctr">
                    <a:lnL>
                      <a:noFill/>
                    </a:lnL>
                    <a:lnR>
                      <a:noFill/>
                    </a:lnR>
                    <a:lnT>
                      <a:noFill/>
                    </a:lnT>
                    <a:lnB>
                      <a:noFill/>
                    </a:lnB>
                    <a:noFill/>
                  </a:tcPr>
                </a:tc>
                <a:tc>
                  <a:txBody>
                    <a:bodyPr/>
                    <a:lstStyle/>
                    <a:p>
                      <a:r>
                        <a:rPr lang="en-US" sz="900"/>
                        <a:t>System should handle video frames without lag.</a:t>
                      </a:r>
                    </a:p>
                  </a:txBody>
                  <a:tcPr marL="61000" marR="61000" marT="30500" marB="30500" anchor="ctr">
                    <a:lnL>
                      <a:noFill/>
                    </a:lnL>
                    <a:lnR>
                      <a:noFill/>
                    </a:lnR>
                    <a:lnT>
                      <a:noFill/>
                    </a:lnT>
                    <a:lnB>
                      <a:noFill/>
                    </a:lnB>
                    <a:noFill/>
                  </a:tcPr>
                </a:tc>
                <a:extLst>
                  <a:ext uri="{0D108BD9-81ED-4DB2-BD59-A6C34878D82A}">
                    <a16:rowId xmlns:a16="http://schemas.microsoft.com/office/drawing/2014/main" val="2488613030"/>
                  </a:ext>
                </a:extLst>
              </a:tr>
              <a:tr h="345667">
                <a:tc>
                  <a:txBody>
                    <a:bodyPr/>
                    <a:lstStyle/>
                    <a:p>
                      <a:endParaRPr lang="en-US" sz="900"/>
                    </a:p>
                  </a:txBody>
                  <a:tcPr marL="61000" marR="61000" marT="30500" marB="30500" anchor="ctr">
                    <a:lnL>
                      <a:noFill/>
                    </a:lnL>
                    <a:lnR>
                      <a:noFill/>
                    </a:lnR>
                    <a:lnT>
                      <a:noFill/>
                    </a:lnT>
                    <a:lnB>
                      <a:noFill/>
                    </a:lnB>
                    <a:noFill/>
                  </a:tcPr>
                </a:tc>
                <a:tc>
                  <a:txBody>
                    <a:bodyPr/>
                    <a:lstStyle/>
                    <a:p>
                      <a:r>
                        <a:rPr lang="en-US" sz="900"/>
                        <a:t>Scalability</a:t>
                      </a:r>
                    </a:p>
                  </a:txBody>
                  <a:tcPr marL="61000" marR="61000" marT="30500" marB="30500" anchor="ctr">
                    <a:lnL>
                      <a:noFill/>
                    </a:lnL>
                    <a:lnR>
                      <a:noFill/>
                    </a:lnR>
                    <a:lnT>
                      <a:noFill/>
                    </a:lnT>
                    <a:lnB>
                      <a:noFill/>
                    </a:lnB>
                    <a:noFill/>
                  </a:tcPr>
                </a:tc>
                <a:tc>
                  <a:txBody>
                    <a:bodyPr/>
                    <a:lstStyle/>
                    <a:p>
                      <a:r>
                        <a:rPr lang="en-US" sz="900"/>
                        <a:t>Support multiple matches and larger datasets.</a:t>
                      </a:r>
                    </a:p>
                  </a:txBody>
                  <a:tcPr marL="61000" marR="61000" marT="30500" marB="30500" anchor="ctr">
                    <a:lnL>
                      <a:noFill/>
                    </a:lnL>
                    <a:lnR>
                      <a:noFill/>
                    </a:lnR>
                    <a:lnT>
                      <a:noFill/>
                    </a:lnT>
                    <a:lnB>
                      <a:noFill/>
                    </a:lnB>
                    <a:noFill/>
                  </a:tcPr>
                </a:tc>
                <a:extLst>
                  <a:ext uri="{0D108BD9-81ED-4DB2-BD59-A6C34878D82A}">
                    <a16:rowId xmlns:a16="http://schemas.microsoft.com/office/drawing/2014/main" val="1831528027"/>
                  </a:ext>
                </a:extLst>
              </a:tr>
              <a:tr h="345667">
                <a:tc>
                  <a:txBody>
                    <a:bodyPr/>
                    <a:lstStyle/>
                    <a:p>
                      <a:endParaRPr lang="en-US" sz="900"/>
                    </a:p>
                  </a:txBody>
                  <a:tcPr marL="61000" marR="61000" marT="30500" marB="30500" anchor="ctr">
                    <a:lnL>
                      <a:noFill/>
                    </a:lnL>
                    <a:lnR>
                      <a:noFill/>
                    </a:lnR>
                    <a:lnT>
                      <a:noFill/>
                    </a:lnT>
                    <a:lnB>
                      <a:noFill/>
                    </a:lnB>
                    <a:noFill/>
                  </a:tcPr>
                </a:tc>
                <a:tc>
                  <a:txBody>
                    <a:bodyPr/>
                    <a:lstStyle/>
                    <a:p>
                      <a:r>
                        <a:rPr lang="en-US" sz="900"/>
                        <a:t>Maintainability</a:t>
                      </a:r>
                    </a:p>
                  </a:txBody>
                  <a:tcPr marL="61000" marR="61000" marT="30500" marB="30500" anchor="ctr">
                    <a:lnL>
                      <a:noFill/>
                    </a:lnL>
                    <a:lnR>
                      <a:noFill/>
                    </a:lnR>
                    <a:lnT>
                      <a:noFill/>
                    </a:lnT>
                    <a:lnB>
                      <a:noFill/>
                    </a:lnB>
                    <a:noFill/>
                  </a:tcPr>
                </a:tc>
                <a:tc>
                  <a:txBody>
                    <a:bodyPr/>
                    <a:lstStyle/>
                    <a:p>
                      <a:r>
                        <a:rPr lang="en-US" sz="900"/>
                        <a:t>Modular code for easy updates and enhancements.</a:t>
                      </a:r>
                    </a:p>
                  </a:txBody>
                  <a:tcPr marL="61000" marR="61000" marT="30500" marB="30500" anchor="ctr">
                    <a:lnL>
                      <a:noFill/>
                    </a:lnL>
                    <a:lnR>
                      <a:noFill/>
                    </a:lnR>
                    <a:lnT>
                      <a:noFill/>
                    </a:lnT>
                    <a:lnB>
                      <a:noFill/>
                    </a:lnB>
                    <a:noFill/>
                  </a:tcPr>
                </a:tc>
                <a:extLst>
                  <a:ext uri="{0D108BD9-81ED-4DB2-BD59-A6C34878D82A}">
                    <a16:rowId xmlns:a16="http://schemas.microsoft.com/office/drawing/2014/main" val="3505377160"/>
                  </a:ext>
                </a:extLst>
              </a:tr>
              <a:tr h="345667">
                <a:tc>
                  <a:txBody>
                    <a:bodyPr/>
                    <a:lstStyle/>
                    <a:p>
                      <a:endParaRPr lang="en-US" sz="900"/>
                    </a:p>
                  </a:txBody>
                  <a:tcPr marL="61000" marR="61000" marT="30500" marB="30500" anchor="ctr">
                    <a:lnL>
                      <a:noFill/>
                    </a:lnL>
                    <a:lnR>
                      <a:noFill/>
                    </a:lnR>
                    <a:lnT>
                      <a:noFill/>
                    </a:lnT>
                    <a:lnB>
                      <a:noFill/>
                    </a:lnB>
                    <a:noFill/>
                  </a:tcPr>
                </a:tc>
                <a:tc>
                  <a:txBody>
                    <a:bodyPr/>
                    <a:lstStyle/>
                    <a:p>
                      <a:r>
                        <a:rPr lang="en-US" sz="900"/>
                        <a:t>Usability</a:t>
                      </a:r>
                    </a:p>
                  </a:txBody>
                  <a:tcPr marL="61000" marR="61000" marT="30500" marB="30500" anchor="ctr">
                    <a:lnL>
                      <a:noFill/>
                    </a:lnL>
                    <a:lnR>
                      <a:noFill/>
                    </a:lnR>
                    <a:lnT>
                      <a:noFill/>
                    </a:lnT>
                    <a:lnB>
                      <a:noFill/>
                    </a:lnB>
                    <a:noFill/>
                  </a:tcPr>
                </a:tc>
                <a:tc>
                  <a:txBody>
                    <a:bodyPr/>
                    <a:lstStyle/>
                    <a:p>
                      <a:r>
                        <a:rPr lang="en-US" sz="900"/>
                        <a:t>User-friendly interface for non-technical users.</a:t>
                      </a:r>
                    </a:p>
                  </a:txBody>
                  <a:tcPr marL="61000" marR="61000" marT="30500" marB="30500" anchor="ctr">
                    <a:lnL>
                      <a:noFill/>
                    </a:lnL>
                    <a:lnR>
                      <a:noFill/>
                    </a:lnR>
                    <a:lnT>
                      <a:noFill/>
                    </a:lnT>
                    <a:lnB>
                      <a:noFill/>
                    </a:lnB>
                    <a:noFill/>
                  </a:tcPr>
                </a:tc>
                <a:extLst>
                  <a:ext uri="{0D108BD9-81ED-4DB2-BD59-A6C34878D82A}">
                    <a16:rowId xmlns:a16="http://schemas.microsoft.com/office/drawing/2014/main" val="3085602779"/>
                  </a:ext>
                </a:extLst>
              </a:tr>
              <a:tr h="345667">
                <a:tc>
                  <a:txBody>
                    <a:bodyPr/>
                    <a:lstStyle/>
                    <a:p>
                      <a:endParaRPr lang="en-US" sz="900"/>
                    </a:p>
                  </a:txBody>
                  <a:tcPr marL="61000" marR="61000" marT="30500" marB="30500" anchor="ctr">
                    <a:lnL>
                      <a:noFill/>
                    </a:lnL>
                    <a:lnR>
                      <a:noFill/>
                    </a:lnR>
                    <a:lnT>
                      <a:noFill/>
                    </a:lnT>
                    <a:lnB>
                      <a:noFill/>
                    </a:lnB>
                    <a:noFill/>
                  </a:tcPr>
                </a:tc>
                <a:tc>
                  <a:txBody>
                    <a:bodyPr/>
                    <a:lstStyle/>
                    <a:p>
                      <a:r>
                        <a:rPr lang="en-US" sz="900"/>
                        <a:t>Security</a:t>
                      </a:r>
                    </a:p>
                  </a:txBody>
                  <a:tcPr marL="61000" marR="61000" marT="30500" marB="30500" anchor="ctr">
                    <a:lnL>
                      <a:noFill/>
                    </a:lnL>
                    <a:lnR>
                      <a:noFill/>
                    </a:lnR>
                    <a:lnT>
                      <a:noFill/>
                    </a:lnT>
                    <a:lnB>
                      <a:noFill/>
                    </a:lnB>
                    <a:noFill/>
                  </a:tcPr>
                </a:tc>
                <a:tc>
                  <a:txBody>
                    <a:bodyPr/>
                    <a:lstStyle/>
                    <a:p>
                      <a:r>
                        <a:rPr lang="en-US" sz="900" dirty="0"/>
                        <a:t>Secure data handling and user access controls.</a:t>
                      </a:r>
                    </a:p>
                  </a:txBody>
                  <a:tcPr marL="61000" marR="61000" marT="30500" marB="30500" anchor="ctr">
                    <a:lnL>
                      <a:noFill/>
                    </a:lnL>
                    <a:lnR>
                      <a:noFill/>
                    </a:lnR>
                    <a:lnT>
                      <a:noFill/>
                    </a:lnT>
                    <a:lnB>
                      <a:noFill/>
                    </a:lnB>
                    <a:noFill/>
                  </a:tcPr>
                </a:tc>
                <a:extLst>
                  <a:ext uri="{0D108BD9-81ED-4DB2-BD59-A6C34878D82A}">
                    <a16:rowId xmlns:a16="http://schemas.microsoft.com/office/drawing/2014/main" val="1588828680"/>
                  </a:ext>
                </a:extLst>
              </a:tr>
            </a:tbl>
          </a:graphicData>
        </a:graphic>
      </p:graphicFrame>
      <p:sp>
        <p:nvSpPr>
          <p:cNvPr id="4" name="Rectangle 1">
            <a:extLst>
              <a:ext uri="{FF2B5EF4-FFF2-40B4-BE49-F238E27FC236}">
                <a16:creationId xmlns:a16="http://schemas.microsoft.com/office/drawing/2014/main" id="{5C61D09B-B3C8-941D-6066-C1B23316F675}"/>
              </a:ext>
            </a:extLst>
          </p:cNvPr>
          <p:cNvSpPr>
            <a:spLocks noChangeArrowheads="1"/>
          </p:cNvSpPr>
          <p:nvPr/>
        </p:nvSpPr>
        <p:spPr bwMode="auto">
          <a:xfrm>
            <a:off x="2589213" y="3698085"/>
            <a:ext cx="21993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2"/>
          <p:cNvSpPr txBox="1">
            <a:spLocks noGrp="1"/>
          </p:cNvSpPr>
          <p:nvPr>
            <p:ph type="title"/>
          </p:nvPr>
        </p:nvSpPr>
        <p:spPr>
          <a:xfrm>
            <a:off x="838200" y="256250"/>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a:latin typeface="Nunito"/>
                <a:ea typeface="Nunito"/>
                <a:cs typeface="Nunito"/>
                <a:sym typeface="Nunito"/>
              </a:rPr>
              <a:t>Proposed Architecture</a:t>
            </a:r>
            <a:endParaRPr sz="3600" b="1">
              <a:latin typeface="Nunito"/>
              <a:ea typeface="Nunito"/>
              <a:cs typeface="Nunito"/>
              <a:sym typeface="Nunito"/>
            </a:endParaRPr>
          </a:p>
        </p:txBody>
      </p:sp>
      <p:pic>
        <p:nvPicPr>
          <p:cNvPr id="159" name="Google Shape;159;p22"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60" name="Google Shape;160;p2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11</a:t>
            </a:fld>
            <a:endParaRPr/>
          </a:p>
        </p:txBody>
      </p:sp>
      <p:pic>
        <p:nvPicPr>
          <p:cNvPr id="4" name="Picture 3">
            <a:extLst>
              <a:ext uri="{FF2B5EF4-FFF2-40B4-BE49-F238E27FC236}">
                <a16:creationId xmlns:a16="http://schemas.microsoft.com/office/drawing/2014/main" id="{77657125-0B05-B334-B8F5-D6AC2C6B4145}"/>
              </a:ext>
            </a:extLst>
          </p:cNvPr>
          <p:cNvPicPr>
            <a:picLocks noChangeAspect="1"/>
          </p:cNvPicPr>
          <p:nvPr/>
        </p:nvPicPr>
        <p:blipFill>
          <a:blip r:embed="rId4"/>
          <a:stretch>
            <a:fillRect/>
          </a:stretch>
        </p:blipFill>
        <p:spPr>
          <a:xfrm>
            <a:off x="148929" y="2679546"/>
            <a:ext cx="11894141" cy="13257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3"/>
          <p:cNvSpPr txBox="1">
            <a:spLocks noGrp="1"/>
          </p:cNvSpPr>
          <p:nvPr>
            <p:ph type="title"/>
          </p:nvPr>
        </p:nvSpPr>
        <p:spPr>
          <a:xfrm>
            <a:off x="838200" y="256250"/>
            <a:ext cx="10515600" cy="1325700"/>
          </a:xfrm>
          <a:prstGeom prst="rect">
            <a:avLst/>
          </a:prstGeom>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100"/>
              <a:buFont typeface="Arial"/>
              <a:buNone/>
            </a:pPr>
            <a:r>
              <a:rPr lang="en-US" sz="3600" b="1">
                <a:latin typeface="Nunito"/>
                <a:ea typeface="Nunito"/>
                <a:cs typeface="Nunito"/>
                <a:sym typeface="Nunito"/>
              </a:rPr>
              <a:t>Use Case Diagram</a:t>
            </a:r>
            <a:endParaRPr sz="3600" b="1">
              <a:latin typeface="Nunito"/>
              <a:ea typeface="Nunito"/>
              <a:cs typeface="Nunito"/>
              <a:sym typeface="Nunito"/>
            </a:endParaRPr>
          </a:p>
          <a:p>
            <a:pPr marL="0" lvl="0" indent="0" algn="l" rtl="0">
              <a:spcBef>
                <a:spcPts val="0"/>
              </a:spcBef>
              <a:spcAft>
                <a:spcPts val="0"/>
              </a:spcAft>
              <a:buNone/>
            </a:pPr>
            <a:endParaRPr sz="3600" b="1">
              <a:latin typeface="Nunito"/>
              <a:ea typeface="Nunito"/>
              <a:cs typeface="Nunito"/>
              <a:sym typeface="Nunito"/>
            </a:endParaRPr>
          </a:p>
        </p:txBody>
      </p:sp>
      <p:pic>
        <p:nvPicPr>
          <p:cNvPr id="167" name="Google Shape;167;p23"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68" name="Google Shape;168;p2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12</a:t>
            </a:fld>
            <a:endParaRPr/>
          </a:p>
        </p:txBody>
      </p:sp>
      <p:pic>
        <p:nvPicPr>
          <p:cNvPr id="12" name="Picture 11" descr="A diagram of a football analysis&#10;&#10;Description automatically generated">
            <a:extLst>
              <a:ext uri="{FF2B5EF4-FFF2-40B4-BE49-F238E27FC236}">
                <a16:creationId xmlns:a16="http://schemas.microsoft.com/office/drawing/2014/main" id="{C92678F3-1014-283A-735C-A624722CF456}"/>
              </a:ext>
            </a:extLst>
          </p:cNvPr>
          <p:cNvPicPr>
            <a:picLocks noChangeAspect="1"/>
          </p:cNvPicPr>
          <p:nvPr/>
        </p:nvPicPr>
        <p:blipFill>
          <a:blip r:embed="rId4"/>
          <a:stretch>
            <a:fillRect/>
          </a:stretch>
        </p:blipFill>
        <p:spPr>
          <a:xfrm>
            <a:off x="627937" y="2082025"/>
            <a:ext cx="10936125" cy="21108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4"/>
          <p:cNvSpPr txBox="1">
            <a:spLocks noGrp="1"/>
          </p:cNvSpPr>
          <p:nvPr>
            <p:ph type="title"/>
          </p:nvPr>
        </p:nvSpPr>
        <p:spPr>
          <a:xfrm>
            <a:off x="2371550" y="81750"/>
            <a:ext cx="10515600" cy="1325700"/>
          </a:xfrm>
          <a:prstGeom prst="rect">
            <a:avLst/>
          </a:prstGeom>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1100"/>
              <a:buFont typeface="Arial"/>
              <a:buNone/>
            </a:pPr>
            <a:r>
              <a:rPr lang="en-US" sz="3600" b="1">
                <a:latin typeface="Nunito"/>
                <a:ea typeface="Nunito"/>
                <a:cs typeface="Nunito"/>
                <a:sym typeface="Nunito"/>
              </a:rPr>
              <a:t>Activity Diagram</a:t>
            </a:r>
            <a:endParaRPr sz="3600" b="1">
              <a:latin typeface="Nunito"/>
              <a:ea typeface="Nunito"/>
              <a:cs typeface="Nunito"/>
              <a:sym typeface="Nunito"/>
            </a:endParaRPr>
          </a:p>
        </p:txBody>
      </p:sp>
      <p:pic>
        <p:nvPicPr>
          <p:cNvPr id="176" name="Google Shape;176;p24"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77" name="Google Shape;177;p24"/>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13</a:t>
            </a:fld>
            <a:endParaRPr/>
          </a:p>
        </p:txBody>
      </p:sp>
      <p:pic>
        <p:nvPicPr>
          <p:cNvPr id="5" name="Picture 4" descr="A diagram of a diagram&#10;&#10;Description automatically generated">
            <a:extLst>
              <a:ext uri="{FF2B5EF4-FFF2-40B4-BE49-F238E27FC236}">
                <a16:creationId xmlns:a16="http://schemas.microsoft.com/office/drawing/2014/main" id="{48270DDD-3916-B3CF-6BED-B690682A1D53}"/>
              </a:ext>
            </a:extLst>
          </p:cNvPr>
          <p:cNvPicPr>
            <a:picLocks noChangeAspect="1"/>
          </p:cNvPicPr>
          <p:nvPr/>
        </p:nvPicPr>
        <p:blipFill>
          <a:blip r:embed="rId4"/>
          <a:stretch>
            <a:fillRect/>
          </a:stretch>
        </p:blipFill>
        <p:spPr>
          <a:xfrm>
            <a:off x="6656314" y="0"/>
            <a:ext cx="1701098"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5"/>
          <p:cNvSpPr txBox="1">
            <a:spLocks noGrp="1"/>
          </p:cNvSpPr>
          <p:nvPr>
            <p:ph type="title"/>
          </p:nvPr>
        </p:nvSpPr>
        <p:spPr>
          <a:xfrm>
            <a:off x="1822650" y="365125"/>
            <a:ext cx="8546700" cy="1063500"/>
          </a:xfrm>
          <a:prstGeom prst="rect">
            <a:avLst/>
          </a:prstGeom>
        </p:spPr>
        <p:txBody>
          <a:bodyPr spcFirstLastPara="1" wrap="square" lIns="91425" tIns="45700" rIns="91425" bIns="45700" anchor="ctr" anchorCtr="0">
            <a:normAutofit fontScale="90000"/>
          </a:bodyPr>
          <a:lstStyle/>
          <a:p>
            <a:pPr marL="0" lvl="0" indent="0" algn="ctr" rtl="0">
              <a:lnSpc>
                <a:spcPct val="200000"/>
              </a:lnSpc>
              <a:spcBef>
                <a:spcPts val="1000"/>
              </a:spcBef>
              <a:spcAft>
                <a:spcPts val="0"/>
              </a:spcAft>
              <a:buSzPts val="990"/>
              <a:buNone/>
            </a:pPr>
            <a:r>
              <a:rPr lang="en-US" sz="3420" b="1">
                <a:latin typeface="Nunito"/>
                <a:ea typeface="Nunito"/>
                <a:cs typeface="Nunito"/>
                <a:sym typeface="Nunito"/>
              </a:rPr>
              <a:t>Software And Hardware Requirements</a:t>
            </a:r>
            <a:endParaRPr sz="3420" b="1">
              <a:latin typeface="Nunito"/>
              <a:ea typeface="Nunito"/>
              <a:cs typeface="Nunito"/>
              <a:sym typeface="Nunito"/>
            </a:endParaRPr>
          </a:p>
        </p:txBody>
      </p:sp>
      <p:pic>
        <p:nvPicPr>
          <p:cNvPr id="189" name="Google Shape;189;p25"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5" y="81750"/>
            <a:ext cx="1552225" cy="917612"/>
          </a:xfrm>
          <a:prstGeom prst="rect">
            <a:avLst/>
          </a:prstGeom>
          <a:noFill/>
          <a:ln>
            <a:noFill/>
          </a:ln>
        </p:spPr>
      </p:pic>
      <p:graphicFrame>
        <p:nvGraphicFramePr>
          <p:cNvPr id="8" name="Table 7">
            <a:extLst>
              <a:ext uri="{FF2B5EF4-FFF2-40B4-BE49-F238E27FC236}">
                <a16:creationId xmlns:a16="http://schemas.microsoft.com/office/drawing/2014/main" id="{0DE67A9B-D0E8-5E1A-2E2B-E4FD7921F904}"/>
              </a:ext>
            </a:extLst>
          </p:cNvPr>
          <p:cNvGraphicFramePr>
            <a:graphicFrameLocks noGrp="1"/>
          </p:cNvGraphicFramePr>
          <p:nvPr>
            <p:extLst>
              <p:ext uri="{D42A27DB-BD31-4B8C-83A1-F6EECF244321}">
                <p14:modId xmlns:p14="http://schemas.microsoft.com/office/powerpoint/2010/main" val="960310266"/>
              </p:ext>
            </p:extLst>
          </p:nvPr>
        </p:nvGraphicFramePr>
        <p:xfrm>
          <a:off x="155524" y="1527716"/>
          <a:ext cx="12036474" cy="4817328"/>
        </p:xfrm>
        <a:graphic>
          <a:graphicData uri="http://schemas.openxmlformats.org/drawingml/2006/table">
            <a:tbl>
              <a:tblPr/>
              <a:tblGrid>
                <a:gridCol w="4012158">
                  <a:extLst>
                    <a:ext uri="{9D8B030D-6E8A-4147-A177-3AD203B41FA5}">
                      <a16:colId xmlns:a16="http://schemas.microsoft.com/office/drawing/2014/main" val="92804354"/>
                    </a:ext>
                  </a:extLst>
                </a:gridCol>
                <a:gridCol w="4012158">
                  <a:extLst>
                    <a:ext uri="{9D8B030D-6E8A-4147-A177-3AD203B41FA5}">
                      <a16:colId xmlns:a16="http://schemas.microsoft.com/office/drawing/2014/main" val="3133565654"/>
                    </a:ext>
                  </a:extLst>
                </a:gridCol>
                <a:gridCol w="4012158">
                  <a:extLst>
                    <a:ext uri="{9D8B030D-6E8A-4147-A177-3AD203B41FA5}">
                      <a16:colId xmlns:a16="http://schemas.microsoft.com/office/drawing/2014/main" val="1650958773"/>
                    </a:ext>
                  </a:extLst>
                </a:gridCol>
              </a:tblGrid>
              <a:tr h="359502">
                <a:tc>
                  <a:txBody>
                    <a:bodyPr/>
                    <a:lstStyle/>
                    <a:p>
                      <a:r>
                        <a:rPr lang="en-US" b="1"/>
                        <a:t>Category</a:t>
                      </a:r>
                      <a:endParaRPr lang="en-US"/>
                    </a:p>
                  </a:txBody>
                  <a:tcPr anchor="ctr">
                    <a:lnL>
                      <a:noFill/>
                    </a:lnL>
                    <a:lnR>
                      <a:noFill/>
                    </a:lnR>
                    <a:lnT>
                      <a:noFill/>
                    </a:lnT>
                    <a:lnB>
                      <a:noFill/>
                    </a:lnB>
                    <a:noFill/>
                  </a:tcPr>
                </a:tc>
                <a:tc>
                  <a:txBody>
                    <a:bodyPr/>
                    <a:lstStyle/>
                    <a:p>
                      <a:r>
                        <a:rPr lang="en-US" b="1"/>
                        <a:t>Requirement Type</a:t>
                      </a:r>
                      <a:endParaRPr lang="en-US"/>
                    </a:p>
                  </a:txBody>
                  <a:tcPr anchor="ctr">
                    <a:lnL>
                      <a:noFill/>
                    </a:lnL>
                    <a:lnR>
                      <a:noFill/>
                    </a:lnR>
                    <a:lnT>
                      <a:noFill/>
                    </a:lnT>
                    <a:lnB>
                      <a:noFill/>
                    </a:lnB>
                    <a:noFill/>
                  </a:tcPr>
                </a:tc>
                <a:tc>
                  <a:txBody>
                    <a:bodyPr/>
                    <a:lstStyle/>
                    <a:p>
                      <a:r>
                        <a:rPr lang="en-US" b="1"/>
                        <a:t>Description</a:t>
                      </a:r>
                      <a:endParaRPr lang="en-US"/>
                    </a:p>
                  </a:txBody>
                  <a:tcPr anchor="ctr">
                    <a:lnL>
                      <a:noFill/>
                    </a:lnL>
                    <a:lnR>
                      <a:noFill/>
                    </a:lnR>
                    <a:lnT>
                      <a:noFill/>
                    </a:lnT>
                    <a:lnB>
                      <a:noFill/>
                    </a:lnB>
                    <a:noFill/>
                  </a:tcPr>
                </a:tc>
                <a:extLst>
                  <a:ext uri="{0D108BD9-81ED-4DB2-BD59-A6C34878D82A}">
                    <a16:rowId xmlns:a16="http://schemas.microsoft.com/office/drawing/2014/main" val="3666239986"/>
                  </a:ext>
                </a:extLst>
              </a:tr>
              <a:tr h="359502">
                <a:tc>
                  <a:txBody>
                    <a:bodyPr/>
                    <a:lstStyle/>
                    <a:p>
                      <a:r>
                        <a:rPr lang="en-US" b="1"/>
                        <a:t>Software</a:t>
                      </a:r>
                      <a:endParaRPr lang="en-US"/>
                    </a:p>
                  </a:txBody>
                  <a:tcPr anchor="ctr">
                    <a:lnL>
                      <a:noFill/>
                    </a:lnL>
                    <a:lnR>
                      <a:noFill/>
                    </a:lnR>
                    <a:lnT>
                      <a:noFill/>
                    </a:lnT>
                    <a:lnB>
                      <a:noFill/>
                    </a:lnB>
                    <a:noFill/>
                  </a:tcPr>
                </a:tc>
                <a:tc>
                  <a:txBody>
                    <a:bodyPr/>
                    <a:lstStyle/>
                    <a:p>
                      <a:r>
                        <a:rPr lang="en-US"/>
                        <a:t>Operating System</a:t>
                      </a:r>
                    </a:p>
                  </a:txBody>
                  <a:tcPr anchor="ctr">
                    <a:lnL>
                      <a:noFill/>
                    </a:lnL>
                    <a:lnR>
                      <a:noFill/>
                    </a:lnR>
                    <a:lnT>
                      <a:noFill/>
                    </a:lnT>
                    <a:lnB>
                      <a:noFill/>
                    </a:lnB>
                    <a:noFill/>
                  </a:tcPr>
                </a:tc>
                <a:tc>
                  <a:txBody>
                    <a:bodyPr/>
                    <a:lstStyle/>
                    <a:p>
                      <a:r>
                        <a:rPr lang="en-US"/>
                        <a:t>macOS, Linux, or Windows 10/11</a:t>
                      </a:r>
                    </a:p>
                  </a:txBody>
                  <a:tcPr anchor="ctr">
                    <a:lnL>
                      <a:noFill/>
                    </a:lnL>
                    <a:lnR>
                      <a:noFill/>
                    </a:lnR>
                    <a:lnT>
                      <a:noFill/>
                    </a:lnT>
                    <a:lnB>
                      <a:noFill/>
                    </a:lnB>
                    <a:noFill/>
                  </a:tcPr>
                </a:tc>
                <a:extLst>
                  <a:ext uri="{0D108BD9-81ED-4DB2-BD59-A6C34878D82A}">
                    <a16:rowId xmlns:a16="http://schemas.microsoft.com/office/drawing/2014/main" val="457346949"/>
                  </a:ext>
                </a:extLst>
              </a:tr>
              <a:tr h="359502">
                <a:tc>
                  <a:txBody>
                    <a:bodyPr/>
                    <a:lstStyle/>
                    <a:p>
                      <a:endParaRPr lang="en-US"/>
                    </a:p>
                  </a:txBody>
                  <a:tcPr anchor="ctr">
                    <a:lnL>
                      <a:noFill/>
                    </a:lnL>
                    <a:lnR>
                      <a:noFill/>
                    </a:lnR>
                    <a:lnT>
                      <a:noFill/>
                    </a:lnT>
                    <a:lnB>
                      <a:noFill/>
                    </a:lnB>
                    <a:noFill/>
                  </a:tcPr>
                </a:tc>
                <a:tc>
                  <a:txBody>
                    <a:bodyPr/>
                    <a:lstStyle/>
                    <a:p>
                      <a:r>
                        <a:rPr lang="en-US"/>
                        <a:t>Programming Language</a:t>
                      </a:r>
                    </a:p>
                  </a:txBody>
                  <a:tcPr anchor="ctr">
                    <a:lnL>
                      <a:noFill/>
                    </a:lnL>
                    <a:lnR>
                      <a:noFill/>
                    </a:lnR>
                    <a:lnT>
                      <a:noFill/>
                    </a:lnT>
                    <a:lnB>
                      <a:noFill/>
                    </a:lnB>
                    <a:noFill/>
                  </a:tcPr>
                </a:tc>
                <a:tc>
                  <a:txBody>
                    <a:bodyPr/>
                    <a:lstStyle/>
                    <a:p>
                      <a:r>
                        <a:rPr lang="en-US"/>
                        <a:t>Python 3.x</a:t>
                      </a:r>
                    </a:p>
                  </a:txBody>
                  <a:tcPr anchor="ctr">
                    <a:lnL>
                      <a:noFill/>
                    </a:lnL>
                    <a:lnR>
                      <a:noFill/>
                    </a:lnR>
                    <a:lnT>
                      <a:noFill/>
                    </a:lnT>
                    <a:lnB>
                      <a:noFill/>
                    </a:lnB>
                    <a:noFill/>
                  </a:tcPr>
                </a:tc>
                <a:extLst>
                  <a:ext uri="{0D108BD9-81ED-4DB2-BD59-A6C34878D82A}">
                    <a16:rowId xmlns:a16="http://schemas.microsoft.com/office/drawing/2014/main" val="1586935808"/>
                  </a:ext>
                </a:extLst>
              </a:tr>
              <a:tr h="611154">
                <a:tc>
                  <a:txBody>
                    <a:bodyPr/>
                    <a:lstStyle/>
                    <a:p>
                      <a:endParaRPr lang="en-US" dirty="0"/>
                    </a:p>
                  </a:txBody>
                  <a:tcPr anchor="ctr">
                    <a:lnL>
                      <a:noFill/>
                    </a:lnL>
                    <a:lnR>
                      <a:noFill/>
                    </a:lnR>
                    <a:lnT>
                      <a:noFill/>
                    </a:lnT>
                    <a:lnB>
                      <a:noFill/>
                    </a:lnB>
                    <a:noFill/>
                  </a:tcPr>
                </a:tc>
                <a:tc>
                  <a:txBody>
                    <a:bodyPr/>
                    <a:lstStyle/>
                    <a:p>
                      <a:r>
                        <a:rPr lang="en-US"/>
                        <a:t>Libraries &amp; Frameworks</a:t>
                      </a:r>
                    </a:p>
                  </a:txBody>
                  <a:tcPr anchor="ctr">
                    <a:lnL>
                      <a:noFill/>
                    </a:lnL>
                    <a:lnR>
                      <a:noFill/>
                    </a:lnR>
                    <a:lnT>
                      <a:noFill/>
                    </a:lnT>
                    <a:lnB>
                      <a:noFill/>
                    </a:lnB>
                    <a:noFill/>
                  </a:tcPr>
                </a:tc>
                <a:tc>
                  <a:txBody>
                    <a:bodyPr/>
                    <a:lstStyle/>
                    <a:p>
                      <a:r>
                        <a:rPr lang="en-US"/>
                        <a:t>Ultralytics (YOLO), OpenCV, NumPy, Matplotlib</a:t>
                      </a:r>
                    </a:p>
                  </a:txBody>
                  <a:tcPr anchor="ctr">
                    <a:lnL>
                      <a:noFill/>
                    </a:lnL>
                    <a:lnR>
                      <a:noFill/>
                    </a:lnR>
                    <a:lnT>
                      <a:noFill/>
                    </a:lnT>
                    <a:lnB>
                      <a:noFill/>
                    </a:lnB>
                    <a:noFill/>
                  </a:tcPr>
                </a:tc>
                <a:extLst>
                  <a:ext uri="{0D108BD9-81ED-4DB2-BD59-A6C34878D82A}">
                    <a16:rowId xmlns:a16="http://schemas.microsoft.com/office/drawing/2014/main" val="662411702"/>
                  </a:ext>
                </a:extLst>
              </a:tr>
              <a:tr h="359502">
                <a:tc>
                  <a:txBody>
                    <a:bodyPr/>
                    <a:lstStyle/>
                    <a:p>
                      <a:endParaRPr lang="en-US"/>
                    </a:p>
                  </a:txBody>
                  <a:tcPr anchor="ctr">
                    <a:lnL>
                      <a:noFill/>
                    </a:lnL>
                    <a:lnR>
                      <a:noFill/>
                    </a:lnR>
                    <a:lnT>
                      <a:noFill/>
                    </a:lnT>
                    <a:lnB>
                      <a:noFill/>
                    </a:lnB>
                    <a:noFill/>
                  </a:tcPr>
                </a:tc>
                <a:tc>
                  <a:txBody>
                    <a:bodyPr/>
                    <a:lstStyle/>
                    <a:p>
                      <a:r>
                        <a:rPr lang="en-US"/>
                        <a:t>Development Tools</a:t>
                      </a:r>
                    </a:p>
                  </a:txBody>
                  <a:tcPr anchor="ctr">
                    <a:lnL>
                      <a:noFill/>
                    </a:lnL>
                    <a:lnR>
                      <a:noFill/>
                    </a:lnR>
                    <a:lnT>
                      <a:noFill/>
                    </a:lnT>
                    <a:lnB>
                      <a:noFill/>
                    </a:lnB>
                    <a:noFill/>
                  </a:tcPr>
                </a:tc>
                <a:tc>
                  <a:txBody>
                    <a:bodyPr/>
                    <a:lstStyle/>
                    <a:p>
                      <a:r>
                        <a:rPr lang="en-US"/>
                        <a:t>Jupyter Notebook, Anaconda, VSCode</a:t>
                      </a:r>
                    </a:p>
                  </a:txBody>
                  <a:tcPr anchor="ctr">
                    <a:lnL>
                      <a:noFill/>
                    </a:lnL>
                    <a:lnR>
                      <a:noFill/>
                    </a:lnR>
                    <a:lnT>
                      <a:noFill/>
                    </a:lnT>
                    <a:lnB>
                      <a:noFill/>
                    </a:lnB>
                    <a:noFill/>
                  </a:tcPr>
                </a:tc>
                <a:extLst>
                  <a:ext uri="{0D108BD9-81ED-4DB2-BD59-A6C34878D82A}">
                    <a16:rowId xmlns:a16="http://schemas.microsoft.com/office/drawing/2014/main" val="1083450367"/>
                  </a:ext>
                </a:extLst>
              </a:tr>
              <a:tr h="359502">
                <a:tc>
                  <a:txBody>
                    <a:bodyPr/>
                    <a:lstStyle/>
                    <a:p>
                      <a:endParaRPr lang="en-US"/>
                    </a:p>
                  </a:txBody>
                  <a:tcPr anchor="ctr">
                    <a:lnL>
                      <a:noFill/>
                    </a:lnL>
                    <a:lnR>
                      <a:noFill/>
                    </a:lnR>
                    <a:lnT>
                      <a:noFill/>
                    </a:lnT>
                    <a:lnB>
                      <a:noFill/>
                    </a:lnB>
                    <a:noFill/>
                  </a:tcPr>
                </a:tc>
                <a:tc>
                  <a:txBody>
                    <a:bodyPr/>
                    <a:lstStyle/>
                    <a:p>
                      <a:r>
                        <a:rPr lang="en-US"/>
                        <a:t>Version Control</a:t>
                      </a:r>
                    </a:p>
                  </a:txBody>
                  <a:tcPr anchor="ctr">
                    <a:lnL>
                      <a:noFill/>
                    </a:lnL>
                    <a:lnR>
                      <a:noFill/>
                    </a:lnR>
                    <a:lnT>
                      <a:noFill/>
                    </a:lnT>
                    <a:lnB>
                      <a:noFill/>
                    </a:lnB>
                    <a:noFill/>
                  </a:tcPr>
                </a:tc>
                <a:tc>
                  <a:txBody>
                    <a:bodyPr/>
                    <a:lstStyle/>
                    <a:p>
                      <a:r>
                        <a:rPr lang="en-US"/>
                        <a:t>Git</a:t>
                      </a:r>
                    </a:p>
                  </a:txBody>
                  <a:tcPr anchor="ctr">
                    <a:lnL>
                      <a:noFill/>
                    </a:lnL>
                    <a:lnR>
                      <a:noFill/>
                    </a:lnR>
                    <a:lnT>
                      <a:noFill/>
                    </a:lnT>
                    <a:lnB>
                      <a:noFill/>
                    </a:lnB>
                    <a:noFill/>
                  </a:tcPr>
                </a:tc>
                <a:extLst>
                  <a:ext uri="{0D108BD9-81ED-4DB2-BD59-A6C34878D82A}">
                    <a16:rowId xmlns:a16="http://schemas.microsoft.com/office/drawing/2014/main" val="3077268068"/>
                  </a:ext>
                </a:extLst>
              </a:tr>
              <a:tr h="359502">
                <a:tc>
                  <a:txBody>
                    <a:bodyPr/>
                    <a:lstStyle/>
                    <a:p>
                      <a:endParaRPr lang="en-US"/>
                    </a:p>
                  </a:txBody>
                  <a:tcPr anchor="ctr">
                    <a:lnL>
                      <a:noFill/>
                    </a:lnL>
                    <a:lnR>
                      <a:noFill/>
                    </a:lnR>
                    <a:lnT>
                      <a:noFill/>
                    </a:lnT>
                    <a:lnB>
                      <a:noFill/>
                    </a:lnB>
                    <a:noFill/>
                  </a:tcPr>
                </a:tc>
                <a:tc>
                  <a:txBody>
                    <a:bodyPr/>
                    <a:lstStyle/>
                    <a:p>
                      <a:r>
                        <a:rPr lang="en-US"/>
                        <a:t>Data Analysis Tools</a:t>
                      </a:r>
                    </a:p>
                  </a:txBody>
                  <a:tcPr anchor="ctr">
                    <a:lnL>
                      <a:noFill/>
                    </a:lnL>
                    <a:lnR>
                      <a:noFill/>
                    </a:lnR>
                    <a:lnT>
                      <a:noFill/>
                    </a:lnT>
                    <a:lnB>
                      <a:noFill/>
                    </a:lnB>
                    <a:noFill/>
                  </a:tcPr>
                </a:tc>
                <a:tc>
                  <a:txBody>
                    <a:bodyPr/>
                    <a:lstStyle/>
                    <a:p>
                      <a:r>
                        <a:rPr lang="en-US"/>
                        <a:t>Pandas, Supervision for object tracking</a:t>
                      </a:r>
                    </a:p>
                  </a:txBody>
                  <a:tcPr anchor="ctr">
                    <a:lnL>
                      <a:noFill/>
                    </a:lnL>
                    <a:lnR>
                      <a:noFill/>
                    </a:lnR>
                    <a:lnT>
                      <a:noFill/>
                    </a:lnT>
                    <a:lnB>
                      <a:noFill/>
                    </a:lnB>
                    <a:noFill/>
                  </a:tcPr>
                </a:tc>
                <a:extLst>
                  <a:ext uri="{0D108BD9-81ED-4DB2-BD59-A6C34878D82A}">
                    <a16:rowId xmlns:a16="http://schemas.microsoft.com/office/drawing/2014/main" val="3006517343"/>
                  </a:ext>
                </a:extLst>
              </a:tr>
              <a:tr h="359502">
                <a:tc>
                  <a:txBody>
                    <a:bodyPr/>
                    <a:lstStyle/>
                    <a:p>
                      <a:r>
                        <a:rPr lang="en-US" b="1"/>
                        <a:t>Hardware</a:t>
                      </a:r>
                      <a:endParaRPr lang="en-US"/>
                    </a:p>
                  </a:txBody>
                  <a:tcPr anchor="ctr">
                    <a:lnL>
                      <a:noFill/>
                    </a:lnL>
                    <a:lnR>
                      <a:noFill/>
                    </a:lnR>
                    <a:lnT>
                      <a:noFill/>
                    </a:lnT>
                    <a:lnB>
                      <a:noFill/>
                    </a:lnB>
                    <a:noFill/>
                  </a:tcPr>
                </a:tc>
                <a:tc>
                  <a:txBody>
                    <a:bodyPr/>
                    <a:lstStyle/>
                    <a:p>
                      <a:r>
                        <a:rPr lang="en-US"/>
                        <a:t>Processor</a:t>
                      </a:r>
                    </a:p>
                  </a:txBody>
                  <a:tcPr anchor="ctr">
                    <a:lnL>
                      <a:noFill/>
                    </a:lnL>
                    <a:lnR>
                      <a:noFill/>
                    </a:lnR>
                    <a:lnT>
                      <a:noFill/>
                    </a:lnT>
                    <a:lnB>
                      <a:noFill/>
                    </a:lnB>
                    <a:noFill/>
                  </a:tcPr>
                </a:tc>
                <a:tc>
                  <a:txBody>
                    <a:bodyPr/>
                    <a:lstStyle/>
                    <a:p>
                      <a:r>
                        <a:rPr lang="en-US"/>
                        <a:t>Intel i5/i7 or Apple M1/M2</a:t>
                      </a:r>
                    </a:p>
                  </a:txBody>
                  <a:tcPr anchor="ctr">
                    <a:lnL>
                      <a:noFill/>
                    </a:lnL>
                    <a:lnR>
                      <a:noFill/>
                    </a:lnR>
                    <a:lnT>
                      <a:noFill/>
                    </a:lnT>
                    <a:lnB>
                      <a:noFill/>
                    </a:lnB>
                    <a:noFill/>
                  </a:tcPr>
                </a:tc>
                <a:extLst>
                  <a:ext uri="{0D108BD9-81ED-4DB2-BD59-A6C34878D82A}">
                    <a16:rowId xmlns:a16="http://schemas.microsoft.com/office/drawing/2014/main" val="1703907895"/>
                  </a:ext>
                </a:extLst>
              </a:tr>
              <a:tr h="359502">
                <a:tc>
                  <a:txBody>
                    <a:bodyPr/>
                    <a:lstStyle/>
                    <a:p>
                      <a:endParaRPr lang="en-US"/>
                    </a:p>
                  </a:txBody>
                  <a:tcPr anchor="ctr">
                    <a:lnL>
                      <a:noFill/>
                    </a:lnL>
                    <a:lnR>
                      <a:noFill/>
                    </a:lnR>
                    <a:lnT>
                      <a:noFill/>
                    </a:lnT>
                    <a:lnB>
                      <a:noFill/>
                    </a:lnB>
                    <a:noFill/>
                  </a:tcPr>
                </a:tc>
                <a:tc>
                  <a:txBody>
                    <a:bodyPr/>
                    <a:lstStyle/>
                    <a:p>
                      <a:r>
                        <a:rPr lang="en-US"/>
                        <a:t>RAM</a:t>
                      </a:r>
                    </a:p>
                  </a:txBody>
                  <a:tcPr anchor="ctr">
                    <a:lnL>
                      <a:noFill/>
                    </a:lnL>
                    <a:lnR>
                      <a:noFill/>
                    </a:lnR>
                    <a:lnT>
                      <a:noFill/>
                    </a:lnT>
                    <a:lnB>
                      <a:noFill/>
                    </a:lnB>
                    <a:noFill/>
                  </a:tcPr>
                </a:tc>
                <a:tc>
                  <a:txBody>
                    <a:bodyPr/>
                    <a:lstStyle/>
                    <a:p>
                      <a:r>
                        <a:rPr lang="en-US"/>
                        <a:t>Minimum 8GB (Recommended: 16GB)</a:t>
                      </a:r>
                    </a:p>
                  </a:txBody>
                  <a:tcPr anchor="ctr">
                    <a:lnL>
                      <a:noFill/>
                    </a:lnL>
                    <a:lnR>
                      <a:noFill/>
                    </a:lnR>
                    <a:lnT>
                      <a:noFill/>
                    </a:lnT>
                    <a:lnB>
                      <a:noFill/>
                    </a:lnB>
                    <a:noFill/>
                  </a:tcPr>
                </a:tc>
                <a:extLst>
                  <a:ext uri="{0D108BD9-81ED-4DB2-BD59-A6C34878D82A}">
                    <a16:rowId xmlns:a16="http://schemas.microsoft.com/office/drawing/2014/main" val="1258027419"/>
                  </a:ext>
                </a:extLst>
              </a:tr>
              <a:tr h="359502">
                <a:tc>
                  <a:txBody>
                    <a:bodyPr/>
                    <a:lstStyle/>
                    <a:p>
                      <a:endParaRPr lang="en-US"/>
                    </a:p>
                  </a:txBody>
                  <a:tcPr anchor="ctr">
                    <a:lnL>
                      <a:noFill/>
                    </a:lnL>
                    <a:lnR>
                      <a:noFill/>
                    </a:lnR>
                    <a:lnT>
                      <a:noFill/>
                    </a:lnT>
                    <a:lnB>
                      <a:noFill/>
                    </a:lnB>
                    <a:noFill/>
                  </a:tcPr>
                </a:tc>
                <a:tc>
                  <a:txBody>
                    <a:bodyPr/>
                    <a:lstStyle/>
                    <a:p>
                      <a:r>
                        <a:rPr lang="en-US"/>
                        <a:t>Storage</a:t>
                      </a:r>
                    </a:p>
                  </a:txBody>
                  <a:tcPr anchor="ctr">
                    <a:lnL>
                      <a:noFill/>
                    </a:lnL>
                    <a:lnR>
                      <a:noFill/>
                    </a:lnR>
                    <a:lnT>
                      <a:noFill/>
                    </a:lnT>
                    <a:lnB>
                      <a:noFill/>
                    </a:lnB>
                    <a:noFill/>
                  </a:tcPr>
                </a:tc>
                <a:tc>
                  <a:txBody>
                    <a:bodyPr/>
                    <a:lstStyle/>
                    <a:p>
                      <a:r>
                        <a:rPr lang="en-US"/>
                        <a:t>Minimum 256GB SSD</a:t>
                      </a:r>
                    </a:p>
                  </a:txBody>
                  <a:tcPr anchor="ctr">
                    <a:lnL>
                      <a:noFill/>
                    </a:lnL>
                    <a:lnR>
                      <a:noFill/>
                    </a:lnR>
                    <a:lnT>
                      <a:noFill/>
                    </a:lnT>
                    <a:lnB>
                      <a:noFill/>
                    </a:lnB>
                    <a:noFill/>
                  </a:tcPr>
                </a:tc>
                <a:extLst>
                  <a:ext uri="{0D108BD9-81ED-4DB2-BD59-A6C34878D82A}">
                    <a16:rowId xmlns:a16="http://schemas.microsoft.com/office/drawing/2014/main" val="2405082880"/>
                  </a:ext>
                </a:extLst>
              </a:tr>
              <a:tr h="611154">
                <a:tc>
                  <a:txBody>
                    <a:bodyPr/>
                    <a:lstStyle/>
                    <a:p>
                      <a:endParaRPr lang="en-US"/>
                    </a:p>
                  </a:txBody>
                  <a:tcPr anchor="ctr">
                    <a:lnL>
                      <a:noFill/>
                    </a:lnL>
                    <a:lnR>
                      <a:noFill/>
                    </a:lnR>
                    <a:lnT>
                      <a:noFill/>
                    </a:lnT>
                    <a:lnB>
                      <a:noFill/>
                    </a:lnB>
                    <a:noFill/>
                  </a:tcPr>
                </a:tc>
                <a:tc>
                  <a:txBody>
                    <a:bodyPr/>
                    <a:lstStyle/>
                    <a:p>
                      <a:r>
                        <a:rPr lang="en-US" dirty="0"/>
                        <a:t>GPU (Optional)</a:t>
                      </a:r>
                    </a:p>
                  </a:txBody>
                  <a:tcPr anchor="ctr">
                    <a:lnL>
                      <a:noFill/>
                    </a:lnL>
                    <a:lnR>
                      <a:noFill/>
                    </a:lnR>
                    <a:lnT>
                      <a:noFill/>
                    </a:lnT>
                    <a:lnB>
                      <a:noFill/>
                    </a:lnB>
                    <a:noFill/>
                  </a:tcPr>
                </a:tc>
                <a:tc>
                  <a:txBody>
                    <a:bodyPr/>
                    <a:lstStyle/>
                    <a:p>
                      <a:r>
                        <a:rPr lang="en-US"/>
                        <a:t>NVIDIA GTX 1050 or higher for faster training</a:t>
                      </a:r>
                    </a:p>
                  </a:txBody>
                  <a:tcPr anchor="ctr">
                    <a:lnL>
                      <a:noFill/>
                    </a:lnL>
                    <a:lnR>
                      <a:noFill/>
                    </a:lnR>
                    <a:lnT>
                      <a:noFill/>
                    </a:lnT>
                    <a:lnB>
                      <a:noFill/>
                    </a:lnB>
                    <a:noFill/>
                  </a:tcPr>
                </a:tc>
                <a:extLst>
                  <a:ext uri="{0D108BD9-81ED-4DB2-BD59-A6C34878D82A}">
                    <a16:rowId xmlns:a16="http://schemas.microsoft.com/office/drawing/2014/main" val="1872335257"/>
                  </a:ext>
                </a:extLst>
              </a:tr>
              <a:tr h="359502">
                <a:tc>
                  <a:txBody>
                    <a:bodyPr/>
                    <a:lstStyle/>
                    <a:p>
                      <a:endParaRPr lang="en-US"/>
                    </a:p>
                  </a:txBody>
                  <a:tcPr anchor="ctr">
                    <a:lnL>
                      <a:noFill/>
                    </a:lnL>
                    <a:lnR>
                      <a:noFill/>
                    </a:lnR>
                    <a:lnT>
                      <a:noFill/>
                    </a:lnT>
                    <a:lnB>
                      <a:noFill/>
                    </a:lnB>
                    <a:noFill/>
                  </a:tcPr>
                </a:tc>
                <a:tc>
                  <a:txBody>
                    <a:bodyPr/>
                    <a:lstStyle/>
                    <a:p>
                      <a:r>
                        <a:rPr lang="en-US"/>
                        <a:t>Camera (Optional)</a:t>
                      </a:r>
                    </a:p>
                  </a:txBody>
                  <a:tcPr anchor="ctr">
                    <a:lnL>
                      <a:noFill/>
                    </a:lnL>
                    <a:lnR>
                      <a:noFill/>
                    </a:lnR>
                    <a:lnT>
                      <a:noFill/>
                    </a:lnT>
                    <a:lnB>
                      <a:noFill/>
                    </a:lnB>
                    <a:noFill/>
                  </a:tcPr>
                </a:tc>
                <a:tc>
                  <a:txBody>
                    <a:bodyPr/>
                    <a:lstStyle/>
                    <a:p>
                      <a:r>
                        <a:rPr lang="en-US" dirty="0"/>
                        <a:t>HD Camera for real-time tracking</a:t>
                      </a:r>
                    </a:p>
                  </a:txBody>
                  <a:tcPr anchor="ctr">
                    <a:lnL>
                      <a:noFill/>
                    </a:lnL>
                    <a:lnR>
                      <a:noFill/>
                    </a:lnR>
                    <a:lnT>
                      <a:noFill/>
                    </a:lnT>
                    <a:lnB>
                      <a:noFill/>
                    </a:lnB>
                    <a:noFill/>
                  </a:tcPr>
                </a:tc>
                <a:extLst>
                  <a:ext uri="{0D108BD9-81ED-4DB2-BD59-A6C34878D82A}">
                    <a16:rowId xmlns:a16="http://schemas.microsoft.com/office/drawing/2014/main" val="352858653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6"/>
          <p:cNvSpPr txBox="1">
            <a:spLocks noGrp="1"/>
          </p:cNvSpPr>
          <p:nvPr>
            <p:ph type="title"/>
          </p:nvPr>
        </p:nvSpPr>
        <p:spPr>
          <a:xfrm>
            <a:off x="838200" y="365125"/>
            <a:ext cx="10515600" cy="1145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a:latin typeface="Nunito"/>
                <a:ea typeface="Nunito"/>
                <a:cs typeface="Nunito"/>
                <a:sym typeface="Nunito"/>
              </a:rPr>
              <a:t>Conclusion</a:t>
            </a:r>
            <a:endParaRPr sz="3600" b="1">
              <a:latin typeface="Nunito"/>
              <a:ea typeface="Nunito"/>
              <a:cs typeface="Nunito"/>
              <a:sym typeface="Nunito"/>
            </a:endParaRPr>
          </a:p>
        </p:txBody>
      </p:sp>
      <p:sp>
        <p:nvSpPr>
          <p:cNvPr id="197" name="Google Shape;197;p26"/>
          <p:cNvSpPr txBox="1">
            <a:spLocks noGrp="1"/>
          </p:cNvSpPr>
          <p:nvPr>
            <p:ph type="body" idx="1"/>
          </p:nvPr>
        </p:nvSpPr>
        <p:spPr>
          <a:xfrm>
            <a:off x="838200" y="1445288"/>
            <a:ext cx="10858500" cy="4558200"/>
          </a:xfrm>
          <a:prstGeom prst="rect">
            <a:avLst/>
          </a:prstGeom>
        </p:spPr>
        <p:txBody>
          <a:bodyPr spcFirstLastPara="1" wrap="square" lIns="91425" tIns="45700" rIns="91425" bIns="45700" anchor="t" anchorCtr="0">
            <a:noAutofit/>
          </a:bodyPr>
          <a:lstStyle/>
          <a:p>
            <a:pPr marL="0" lvl="0" indent="0" algn="l" rtl="0">
              <a:lnSpc>
                <a:spcPct val="200000"/>
              </a:lnSpc>
              <a:spcBef>
                <a:spcPts val="600"/>
              </a:spcBef>
              <a:spcAft>
                <a:spcPts val="0"/>
              </a:spcAft>
              <a:buNone/>
            </a:pPr>
            <a:endParaRPr sz="1600">
              <a:latin typeface="Montserrat"/>
              <a:ea typeface="Montserrat"/>
              <a:cs typeface="Montserrat"/>
              <a:sym typeface="Montserrat"/>
            </a:endParaRPr>
          </a:p>
          <a:p>
            <a:pPr marL="457200" lvl="0" indent="-330200" algn="l" rtl="0">
              <a:lnSpc>
                <a:spcPct val="200000"/>
              </a:lnSpc>
              <a:spcBef>
                <a:spcPts val="600"/>
              </a:spcBef>
              <a:spcAft>
                <a:spcPts val="0"/>
              </a:spcAft>
              <a:buSzPts val="1600"/>
              <a:buFont typeface="Montserrat"/>
              <a:buChar char="•"/>
            </a:pPr>
            <a:endParaRPr sz="1600">
              <a:latin typeface="Montserrat"/>
              <a:ea typeface="Montserrat"/>
              <a:cs typeface="Montserrat"/>
              <a:sym typeface="Montserrat"/>
            </a:endParaRPr>
          </a:p>
          <a:p>
            <a:pPr marL="457200" lvl="0" indent="0" algn="l" rtl="0">
              <a:lnSpc>
                <a:spcPct val="200000"/>
              </a:lnSpc>
              <a:spcBef>
                <a:spcPts val="1000"/>
              </a:spcBef>
              <a:spcAft>
                <a:spcPts val="0"/>
              </a:spcAft>
              <a:buNone/>
            </a:pPr>
            <a:endParaRPr sz="1600">
              <a:highlight>
                <a:srgbClr val="FFFF00"/>
              </a:highlight>
              <a:latin typeface="Montserrat"/>
              <a:ea typeface="Montserrat"/>
              <a:cs typeface="Montserrat"/>
              <a:sym typeface="Montserrat"/>
            </a:endParaRPr>
          </a:p>
        </p:txBody>
      </p:sp>
      <p:pic>
        <p:nvPicPr>
          <p:cNvPr id="198" name="Google Shape;198;p26"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99" name="Google Shape;199;p2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a:latin typeface="Nunito"/>
                <a:ea typeface="Nunito"/>
                <a:cs typeface="Nunito"/>
                <a:sym typeface="Nunito"/>
              </a:rPr>
              <a:t>Reference</a:t>
            </a:r>
            <a:endParaRPr sz="3600" b="1">
              <a:latin typeface="Nunito"/>
              <a:ea typeface="Nunito"/>
              <a:cs typeface="Nunito"/>
              <a:sym typeface="Nunito"/>
            </a:endParaRPr>
          </a:p>
        </p:txBody>
      </p:sp>
      <p:sp>
        <p:nvSpPr>
          <p:cNvPr id="205" name="Google Shape;205;p2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lnSpc>
                <a:spcPct val="150000"/>
              </a:lnSpc>
              <a:spcBef>
                <a:spcPts val="0"/>
              </a:spcBef>
              <a:spcAft>
                <a:spcPts val="0"/>
              </a:spcAft>
              <a:buClr>
                <a:schemeClr val="dk1"/>
              </a:buClr>
              <a:buSzPts val="1100"/>
              <a:buFont typeface="Arial"/>
              <a:buNone/>
            </a:pPr>
            <a:endParaRPr sz="1600">
              <a:latin typeface="Montserrat"/>
              <a:ea typeface="Montserrat"/>
              <a:cs typeface="Montserrat"/>
              <a:sym typeface="Montserrat"/>
            </a:endParaRPr>
          </a:p>
          <a:p>
            <a:pPr marL="0" lvl="0" indent="0" algn="l" rtl="0">
              <a:lnSpc>
                <a:spcPct val="150000"/>
              </a:lnSpc>
              <a:spcBef>
                <a:spcPts val="0"/>
              </a:spcBef>
              <a:spcAft>
                <a:spcPts val="0"/>
              </a:spcAft>
              <a:buClr>
                <a:schemeClr val="dk1"/>
              </a:buClr>
              <a:buSzPts val="1100"/>
              <a:buFont typeface="Arial"/>
              <a:buNone/>
            </a:pPr>
            <a:endParaRPr sz="1600">
              <a:latin typeface="Montserrat"/>
              <a:ea typeface="Montserrat"/>
              <a:cs typeface="Montserrat"/>
              <a:sym typeface="Montserrat"/>
            </a:endParaRPr>
          </a:p>
          <a:p>
            <a:pPr marL="0" lvl="0" indent="0" algn="l" rtl="0">
              <a:lnSpc>
                <a:spcPct val="150000"/>
              </a:lnSpc>
              <a:spcBef>
                <a:spcPts val="0"/>
              </a:spcBef>
              <a:spcAft>
                <a:spcPts val="0"/>
              </a:spcAft>
              <a:buClr>
                <a:schemeClr val="dk1"/>
              </a:buClr>
              <a:buSzPts val="1100"/>
              <a:buFont typeface="Arial"/>
              <a:buNone/>
            </a:pPr>
            <a:r>
              <a:rPr lang="en-US" sz="1600">
                <a:latin typeface="Montserrat"/>
                <a:ea typeface="Montserrat"/>
                <a:cs typeface="Montserrat"/>
                <a:sym typeface="Montserrat"/>
              </a:rPr>
              <a:t>Refer Following format to write reference:</a:t>
            </a:r>
            <a:endParaRPr sz="1600">
              <a:latin typeface="Montserrat"/>
              <a:ea typeface="Montserrat"/>
              <a:cs typeface="Montserrat"/>
              <a:sym typeface="Montserrat"/>
            </a:endParaRPr>
          </a:p>
          <a:p>
            <a:pPr marL="0" lvl="0" indent="0" algn="l" rtl="0">
              <a:lnSpc>
                <a:spcPct val="150000"/>
              </a:lnSpc>
              <a:spcBef>
                <a:spcPts val="0"/>
              </a:spcBef>
              <a:spcAft>
                <a:spcPts val="0"/>
              </a:spcAft>
              <a:buClr>
                <a:schemeClr val="dk1"/>
              </a:buClr>
              <a:buSzPts val="1100"/>
              <a:buFont typeface="Arial"/>
              <a:buNone/>
            </a:pPr>
            <a:r>
              <a:rPr lang="en-US" sz="1600">
                <a:latin typeface="Montserrat"/>
                <a:ea typeface="Montserrat"/>
                <a:cs typeface="Montserrat"/>
                <a:sym typeface="Montserrat"/>
              </a:rPr>
              <a:t>Van Ngoc Tran, 2015.</a:t>
            </a:r>
            <a:endParaRPr sz="1600">
              <a:latin typeface="Montserrat"/>
              <a:ea typeface="Montserrat"/>
              <a:cs typeface="Montserrat"/>
              <a:sym typeface="Montserrat"/>
            </a:endParaRPr>
          </a:p>
          <a:p>
            <a:pPr marL="0" lvl="0" indent="0" algn="l" rtl="0">
              <a:lnSpc>
                <a:spcPct val="150000"/>
              </a:lnSpc>
              <a:spcBef>
                <a:spcPts val="0"/>
              </a:spcBef>
              <a:spcAft>
                <a:spcPts val="0"/>
              </a:spcAft>
              <a:buClr>
                <a:schemeClr val="dk1"/>
              </a:buClr>
              <a:buSzPts val="1100"/>
              <a:buFont typeface="Arial"/>
              <a:buNone/>
            </a:pPr>
            <a:r>
              <a:rPr lang="en-US" sz="1600">
                <a:latin typeface="Montserrat"/>
                <a:ea typeface="Montserrat"/>
                <a:cs typeface="Montserrat"/>
                <a:sym typeface="Montserrat"/>
              </a:rPr>
              <a:t>"Barter Online Network," CRIS - Bulletin of the Centre for Research and Interdisciplinary Study, Sciendo, vol. 2015(2), pages 7-24, December.</a:t>
            </a:r>
            <a:endParaRPr sz="1600">
              <a:latin typeface="Montserrat"/>
              <a:ea typeface="Montserrat"/>
              <a:cs typeface="Montserrat"/>
              <a:sym typeface="Montserrat"/>
            </a:endParaRPr>
          </a:p>
          <a:p>
            <a:pPr marL="0" lvl="0" indent="0" algn="l" rtl="0">
              <a:lnSpc>
                <a:spcPct val="150000"/>
              </a:lnSpc>
              <a:spcBef>
                <a:spcPts val="0"/>
              </a:spcBef>
              <a:spcAft>
                <a:spcPts val="0"/>
              </a:spcAft>
              <a:buClr>
                <a:schemeClr val="dk1"/>
              </a:buClr>
              <a:buSzPts val="1100"/>
              <a:buFont typeface="Arial"/>
              <a:buNone/>
            </a:pPr>
            <a:endParaRPr sz="1600">
              <a:latin typeface="Montserrat"/>
              <a:ea typeface="Montserrat"/>
              <a:cs typeface="Montserrat"/>
              <a:sym typeface="Montserrat"/>
            </a:endParaRPr>
          </a:p>
        </p:txBody>
      </p:sp>
      <p:pic>
        <p:nvPicPr>
          <p:cNvPr id="206" name="Google Shape;206;p27"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207" name="Google Shape;207;p2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12" name="Google Shape;212;p28"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213" name="Google Shape;213;p28"/>
          <p:cNvSpPr txBox="1"/>
          <p:nvPr/>
        </p:nvSpPr>
        <p:spPr>
          <a:xfrm>
            <a:off x="3893250" y="2874900"/>
            <a:ext cx="44055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6000">
                <a:latin typeface="Pacifico"/>
                <a:ea typeface="Pacifico"/>
                <a:cs typeface="Pacifico"/>
                <a:sym typeface="Pacifico"/>
              </a:rPr>
              <a:t>Thank You!</a:t>
            </a:r>
            <a:endParaRPr sz="6000">
              <a:latin typeface="Pacifico"/>
              <a:ea typeface="Pacifico"/>
              <a:cs typeface="Pacifico"/>
              <a:sym typeface="Pacifico"/>
            </a:endParaRPr>
          </a:p>
        </p:txBody>
      </p:sp>
      <p:sp>
        <p:nvSpPr>
          <p:cNvPr id="214" name="Google Shape;214;p2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1184</Words>
  <Application>Microsoft Macintosh PowerPoint</Application>
  <PresentationFormat>Widescreen</PresentationFormat>
  <Paragraphs>175</Paragraphs>
  <Slides>17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Calibri</vt:lpstr>
      <vt:lpstr>Montserrat</vt:lpstr>
      <vt:lpstr>Pacifico</vt:lpstr>
      <vt:lpstr>Nunito</vt:lpstr>
      <vt:lpstr>Arial</vt:lpstr>
      <vt:lpstr>Times New Roman</vt:lpstr>
      <vt:lpstr>Playfair Display</vt:lpstr>
      <vt:lpstr>Quicksand</vt:lpstr>
      <vt:lpstr>Office Theme</vt:lpstr>
      <vt:lpstr>“Intelligent Football Analytics with YOLO and Machine Learning”</vt:lpstr>
      <vt:lpstr>PowerPoint Presentation</vt:lpstr>
      <vt:lpstr>PowerPoint Presentation</vt:lpstr>
      <vt:lpstr>PowerPoint Presentation</vt:lpstr>
      <vt:lpstr>PowerPoint Presentation</vt:lpstr>
      <vt:lpstr>Research Gap:</vt:lpstr>
      <vt:lpstr>Problem Statement</vt:lpstr>
      <vt:lpstr>Objective</vt:lpstr>
      <vt:lpstr>Scope</vt:lpstr>
      <vt:lpstr>SRS</vt:lpstr>
      <vt:lpstr>Proposed Architecture</vt:lpstr>
      <vt:lpstr>Use Case Diagram </vt:lpstr>
      <vt:lpstr>Activity Diagram</vt:lpstr>
      <vt:lpstr>Software And Hardware Requirements</vt:lpstr>
      <vt:lpstr>Conclusion</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Muhammad Moinuddin Quazi</cp:lastModifiedBy>
  <cp:revision>1</cp:revision>
  <dcterms:modified xsi:type="dcterms:W3CDTF">2025-02-10T17:03:08Z</dcterms:modified>
</cp:coreProperties>
</file>